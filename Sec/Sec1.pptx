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9" r:id="rId2"/>
    <p:sldId id="282" r:id="rId3"/>
    <p:sldId id="259" r:id="rId4"/>
    <p:sldId id="281" r:id="rId5"/>
    <p:sldId id="272" r:id="rId6"/>
    <p:sldId id="260" r:id="rId7"/>
    <p:sldId id="273" r:id="rId8"/>
    <p:sldId id="280" r:id="rId9"/>
    <p:sldId id="279" r:id="rId10"/>
    <p:sldId id="304" r:id="rId11"/>
    <p:sldId id="274" r:id="rId12"/>
    <p:sldId id="306" r:id="rId13"/>
    <p:sldId id="307" r:id="rId14"/>
    <p:sldId id="308" r:id="rId15"/>
    <p:sldId id="305" r:id="rId16"/>
    <p:sldId id="275" r:id="rId17"/>
    <p:sldId id="278" r:id="rId18"/>
    <p:sldId id="276" r:id="rId19"/>
    <p:sldId id="277" r:id="rId20"/>
    <p:sldId id="310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5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363302-19F7-4305-AD84-8AB9C737F5C1}" v="9" dt="2026-02-15T19:20:48.3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A8D6C78-FD99-49C9-922F-547C2A424B4F}" type="doc">
      <dgm:prSet loTypeId="urn:microsoft.com/office/officeart/2018/5/layout/Centered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07BEA5D-8787-498E-A75C-891B5A5EB34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Memory</a:t>
          </a:r>
        </a:p>
      </dgm:t>
    </dgm:pt>
    <dgm:pt modelId="{F0818649-1D65-4D49-B344-2BF9F73EA427}" type="parTrans" cxnId="{BCAB8545-0FCF-4121-B3C0-EB6AEDD018F5}">
      <dgm:prSet/>
      <dgm:spPr/>
      <dgm:t>
        <a:bodyPr/>
        <a:lstStyle/>
        <a:p>
          <a:endParaRPr lang="en-US"/>
        </a:p>
      </dgm:t>
    </dgm:pt>
    <dgm:pt modelId="{DEF39928-AF55-4A2D-BFFD-88F86971763F}" type="sibTrans" cxnId="{BCAB8545-0FCF-4121-B3C0-EB6AEDD018F5}">
      <dgm:prSet/>
      <dgm:spPr/>
      <dgm:t>
        <a:bodyPr/>
        <a:lstStyle/>
        <a:p>
          <a:endParaRPr lang="en-US"/>
        </a:p>
      </dgm:t>
    </dgm:pt>
    <dgm:pt modelId="{EEA6A7D8-D148-4BD2-9FA2-9D7A628C9EC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it consists of 8-bit bytes</a:t>
          </a:r>
        </a:p>
      </dgm:t>
    </dgm:pt>
    <dgm:pt modelId="{6FBA38BA-A370-48F3-B7D3-3C16F3D1ABF7}" type="parTrans" cxnId="{1AEFB51C-DDF4-46BD-89D4-02311BEF0DB0}">
      <dgm:prSet/>
      <dgm:spPr/>
      <dgm:t>
        <a:bodyPr/>
        <a:lstStyle/>
        <a:p>
          <a:endParaRPr lang="en-US"/>
        </a:p>
      </dgm:t>
    </dgm:pt>
    <dgm:pt modelId="{A76C5C8E-55F2-4FA6-8D08-74B1277F1FFF}" type="sibTrans" cxnId="{1AEFB51C-DDF4-46BD-89D4-02311BEF0DB0}">
      <dgm:prSet/>
      <dgm:spPr/>
      <dgm:t>
        <a:bodyPr/>
        <a:lstStyle/>
        <a:p>
          <a:endParaRPr lang="en-US"/>
        </a:p>
      </dgm:t>
    </dgm:pt>
    <dgm:pt modelId="{C5AF7948-DADF-4996-9B6B-8F04DBBF7C7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3 consecutive byte from a word(24 bits)</a:t>
          </a:r>
        </a:p>
      </dgm:t>
    </dgm:pt>
    <dgm:pt modelId="{389C5C21-114C-4682-B2AA-82C9A5B33D3C}" type="parTrans" cxnId="{4243F4B0-8EA9-4E33-9DF3-6170E46525D4}">
      <dgm:prSet/>
      <dgm:spPr/>
      <dgm:t>
        <a:bodyPr/>
        <a:lstStyle/>
        <a:p>
          <a:endParaRPr lang="en-US"/>
        </a:p>
      </dgm:t>
    </dgm:pt>
    <dgm:pt modelId="{CB942A93-4CA3-4D77-8FA8-2D7052F9FA99}" type="sibTrans" cxnId="{4243F4B0-8EA9-4E33-9DF3-6170E46525D4}">
      <dgm:prSet/>
      <dgm:spPr/>
      <dgm:t>
        <a:bodyPr/>
        <a:lstStyle/>
        <a:p>
          <a:endParaRPr lang="en-US"/>
        </a:p>
      </dgm:t>
    </dgm:pt>
    <dgm:pt modelId="{7A1D5016-39CC-47B2-B930-06D8008E8BD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Data Formats</a:t>
          </a:r>
        </a:p>
      </dgm:t>
    </dgm:pt>
    <dgm:pt modelId="{B34E6597-1984-4AD8-A3A9-B2E0EA319B1F}" type="parTrans" cxnId="{836BED03-967B-401A-A15F-6BA02FCCDD2F}">
      <dgm:prSet/>
      <dgm:spPr/>
      <dgm:t>
        <a:bodyPr/>
        <a:lstStyle/>
        <a:p>
          <a:endParaRPr lang="en-US"/>
        </a:p>
      </dgm:t>
    </dgm:pt>
    <dgm:pt modelId="{59D913CE-C4C7-4D46-968A-AD03F3A11A9C}" type="sibTrans" cxnId="{836BED03-967B-401A-A15F-6BA02FCCDD2F}">
      <dgm:prSet/>
      <dgm:spPr/>
      <dgm:t>
        <a:bodyPr/>
        <a:lstStyle/>
        <a:p>
          <a:endParaRPr lang="en-US"/>
        </a:p>
      </dgm:t>
    </dgm:pt>
    <dgm:pt modelId="{BBA55132-8BDD-4B7F-BE67-5514E512706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Integers are stored as 24-bit binary numbers </a:t>
          </a:r>
        </a:p>
      </dgm:t>
    </dgm:pt>
    <dgm:pt modelId="{2AFA607C-6F42-43BD-A06E-7CF500DB9A8D}" type="parTrans" cxnId="{FBFD7F8E-EC15-42D9-9E88-2DCD508A0E22}">
      <dgm:prSet/>
      <dgm:spPr/>
      <dgm:t>
        <a:bodyPr/>
        <a:lstStyle/>
        <a:p>
          <a:endParaRPr lang="en-US"/>
        </a:p>
      </dgm:t>
    </dgm:pt>
    <dgm:pt modelId="{C0906865-5475-4E7E-A0E3-63AEAB169B2B}" type="sibTrans" cxnId="{FBFD7F8E-EC15-42D9-9E88-2DCD508A0E22}">
      <dgm:prSet/>
      <dgm:spPr/>
      <dgm:t>
        <a:bodyPr/>
        <a:lstStyle/>
        <a:p>
          <a:endParaRPr lang="en-US"/>
        </a:p>
      </dgm:t>
    </dgm:pt>
    <dgm:pt modelId="{F2A0A2C0-BF56-41EB-ABEC-5AD956AEB2C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2’S complement representation is used for negative values</a:t>
          </a:r>
        </a:p>
      </dgm:t>
    </dgm:pt>
    <dgm:pt modelId="{082BAC37-7352-4459-AF38-1BE6006A3B78}" type="parTrans" cxnId="{5F903694-D2A6-4F08-94D8-ABEC7BDEBDBC}">
      <dgm:prSet/>
      <dgm:spPr/>
      <dgm:t>
        <a:bodyPr/>
        <a:lstStyle/>
        <a:p>
          <a:endParaRPr lang="en-US"/>
        </a:p>
      </dgm:t>
    </dgm:pt>
    <dgm:pt modelId="{65E55F7D-EC16-42AB-A23E-732673C7B883}" type="sibTrans" cxnId="{5F903694-D2A6-4F08-94D8-ABEC7BDEBDBC}">
      <dgm:prSet/>
      <dgm:spPr/>
      <dgm:t>
        <a:bodyPr/>
        <a:lstStyle/>
        <a:p>
          <a:endParaRPr lang="en-US"/>
        </a:p>
      </dgm:t>
    </dgm:pt>
    <dgm:pt modelId="{10CDE37D-D866-4A67-925F-F9120A5CFB9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Total of 32768 (2^15) bytes in the computer memory</a:t>
          </a:r>
        </a:p>
      </dgm:t>
    </dgm:pt>
    <dgm:pt modelId="{0FEC58A4-4F56-4150-A0E0-D9B553D67989}" type="parTrans" cxnId="{4E2E629E-6E2E-4D82-95ED-077D8314C30E}">
      <dgm:prSet/>
      <dgm:spPr/>
      <dgm:t>
        <a:bodyPr/>
        <a:lstStyle/>
        <a:p>
          <a:pPr rtl="1"/>
          <a:endParaRPr lang="ar-EG"/>
        </a:p>
      </dgm:t>
    </dgm:pt>
    <dgm:pt modelId="{85C5AC6F-AAFF-4A61-ABA5-FF2C42F99390}" type="sibTrans" cxnId="{4E2E629E-6E2E-4D82-95ED-077D8314C30E}">
      <dgm:prSet/>
      <dgm:spPr/>
      <dgm:t>
        <a:bodyPr/>
        <a:lstStyle/>
        <a:p>
          <a:pPr rtl="1"/>
          <a:endParaRPr lang="ar-EG"/>
        </a:p>
      </dgm:t>
    </dgm:pt>
    <dgm:pt modelId="{CDC7F389-111A-4AC5-BE6D-784CE6BCD96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Characters are stored using their 8-bit ASCII codes</a:t>
          </a:r>
        </a:p>
      </dgm:t>
    </dgm:pt>
    <dgm:pt modelId="{24E80042-F331-4135-9749-537A82EC1093}" type="sibTrans" cxnId="{A1B127A9-FEAD-4FE5-976A-4E6D97E50049}">
      <dgm:prSet/>
      <dgm:spPr/>
      <dgm:t>
        <a:bodyPr/>
        <a:lstStyle/>
        <a:p>
          <a:endParaRPr lang="en-US"/>
        </a:p>
      </dgm:t>
    </dgm:pt>
    <dgm:pt modelId="{0B6F415E-3017-4F02-AC4C-9D899E539412}" type="parTrans" cxnId="{A1B127A9-FEAD-4FE5-976A-4E6D97E50049}">
      <dgm:prSet/>
      <dgm:spPr/>
      <dgm:t>
        <a:bodyPr/>
        <a:lstStyle/>
        <a:p>
          <a:endParaRPr lang="en-US"/>
        </a:p>
      </dgm:t>
    </dgm:pt>
    <dgm:pt modelId="{29F18D85-4268-47A0-87D3-CB81F4B1E5B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No floating-point hardware on the standard version of sic</a:t>
          </a:r>
        </a:p>
      </dgm:t>
    </dgm:pt>
    <dgm:pt modelId="{AD454155-B95E-43DE-A4E7-D511F93DFE38}" type="parTrans" cxnId="{CB30007B-21A4-4F45-842F-65DC65F8FF59}">
      <dgm:prSet/>
      <dgm:spPr/>
      <dgm:t>
        <a:bodyPr/>
        <a:lstStyle/>
        <a:p>
          <a:pPr rtl="1"/>
          <a:endParaRPr lang="ar-EG"/>
        </a:p>
      </dgm:t>
    </dgm:pt>
    <dgm:pt modelId="{847568C5-4497-44BB-8C2F-BECB49F739E7}" type="sibTrans" cxnId="{CB30007B-21A4-4F45-842F-65DC65F8FF59}">
      <dgm:prSet/>
      <dgm:spPr/>
      <dgm:t>
        <a:bodyPr/>
        <a:lstStyle/>
        <a:p>
          <a:pPr rtl="1"/>
          <a:endParaRPr lang="ar-EG"/>
        </a:p>
      </dgm:t>
    </dgm:pt>
    <dgm:pt modelId="{A8408FCB-5BD2-48FA-92B9-53FDE700B617}" type="pres">
      <dgm:prSet presAssocID="{2A8D6C78-FD99-49C9-922F-547C2A424B4F}" presName="root" presStyleCnt="0">
        <dgm:presLayoutVars>
          <dgm:dir/>
          <dgm:resizeHandles val="exact"/>
        </dgm:presLayoutVars>
      </dgm:prSet>
      <dgm:spPr/>
    </dgm:pt>
    <dgm:pt modelId="{B84B59C2-ADB1-4C3F-94A8-AA37C5AF6A4F}" type="pres">
      <dgm:prSet presAssocID="{107BEA5D-8787-498E-A75C-891B5A5EB347}" presName="compNode" presStyleCnt="0"/>
      <dgm:spPr/>
    </dgm:pt>
    <dgm:pt modelId="{FE37171B-7C7A-40D1-BB06-FC6DCF15C51F}" type="pres">
      <dgm:prSet presAssocID="{107BEA5D-8787-498E-A75C-891B5A5EB347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E71FCBE8-C3C0-4A3B-966C-0667A01ACBBD}" type="pres">
      <dgm:prSet presAssocID="{107BEA5D-8787-498E-A75C-891B5A5EB347}" presName="iconSpace" presStyleCnt="0"/>
      <dgm:spPr/>
    </dgm:pt>
    <dgm:pt modelId="{62898CC8-ECC1-409A-BB83-6562CB45FF8F}" type="pres">
      <dgm:prSet presAssocID="{107BEA5D-8787-498E-A75C-891B5A5EB347}" presName="parTx" presStyleLbl="revTx" presStyleIdx="0" presStyleCnt="4">
        <dgm:presLayoutVars>
          <dgm:chMax val="0"/>
          <dgm:chPref val="0"/>
        </dgm:presLayoutVars>
      </dgm:prSet>
      <dgm:spPr/>
    </dgm:pt>
    <dgm:pt modelId="{7A94401D-45CD-465C-9497-9F954AAB7BE0}" type="pres">
      <dgm:prSet presAssocID="{107BEA5D-8787-498E-A75C-891B5A5EB347}" presName="txSpace" presStyleCnt="0"/>
      <dgm:spPr/>
    </dgm:pt>
    <dgm:pt modelId="{7C58DE9B-33E4-4F52-929E-F9CA11B78702}" type="pres">
      <dgm:prSet presAssocID="{107BEA5D-8787-498E-A75C-891B5A5EB347}" presName="desTx" presStyleLbl="revTx" presStyleIdx="1" presStyleCnt="4">
        <dgm:presLayoutVars/>
      </dgm:prSet>
      <dgm:spPr/>
    </dgm:pt>
    <dgm:pt modelId="{B22A9148-EE65-4803-B03E-A2BBEFED94DA}" type="pres">
      <dgm:prSet presAssocID="{DEF39928-AF55-4A2D-BFFD-88F86971763F}" presName="sibTrans" presStyleCnt="0"/>
      <dgm:spPr/>
    </dgm:pt>
    <dgm:pt modelId="{66C457B4-B484-41D3-86DA-F850EEC81C3D}" type="pres">
      <dgm:prSet presAssocID="{7A1D5016-39CC-47B2-B930-06D8008E8BDE}" presName="compNode" presStyleCnt="0"/>
      <dgm:spPr/>
    </dgm:pt>
    <dgm:pt modelId="{C0A854F7-C01E-4CAA-9DB7-70A34C9C9018}" type="pres">
      <dgm:prSet presAssocID="{7A1D5016-39CC-47B2-B930-06D8008E8BDE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A54A9B4E-4F05-4B4C-AE82-C725DA0AD0F1}" type="pres">
      <dgm:prSet presAssocID="{7A1D5016-39CC-47B2-B930-06D8008E8BDE}" presName="iconSpace" presStyleCnt="0"/>
      <dgm:spPr/>
    </dgm:pt>
    <dgm:pt modelId="{782824EC-4A24-40B7-B5F1-E0771E6CAAE2}" type="pres">
      <dgm:prSet presAssocID="{7A1D5016-39CC-47B2-B930-06D8008E8BDE}" presName="parTx" presStyleLbl="revTx" presStyleIdx="2" presStyleCnt="4">
        <dgm:presLayoutVars>
          <dgm:chMax val="0"/>
          <dgm:chPref val="0"/>
        </dgm:presLayoutVars>
      </dgm:prSet>
      <dgm:spPr/>
    </dgm:pt>
    <dgm:pt modelId="{D29A8DF4-5331-4E6D-8914-97DB1EC03F7D}" type="pres">
      <dgm:prSet presAssocID="{7A1D5016-39CC-47B2-B930-06D8008E8BDE}" presName="txSpace" presStyleCnt="0"/>
      <dgm:spPr/>
    </dgm:pt>
    <dgm:pt modelId="{939ECE39-A851-40EC-945E-6123C6967F3D}" type="pres">
      <dgm:prSet presAssocID="{7A1D5016-39CC-47B2-B930-06D8008E8BDE}" presName="desTx" presStyleLbl="revTx" presStyleIdx="3" presStyleCnt="4">
        <dgm:presLayoutVars/>
      </dgm:prSet>
      <dgm:spPr/>
    </dgm:pt>
  </dgm:ptLst>
  <dgm:cxnLst>
    <dgm:cxn modelId="{836BED03-967B-401A-A15F-6BA02FCCDD2F}" srcId="{2A8D6C78-FD99-49C9-922F-547C2A424B4F}" destId="{7A1D5016-39CC-47B2-B930-06D8008E8BDE}" srcOrd="1" destOrd="0" parTransId="{B34E6597-1984-4AD8-A3A9-B2E0EA319B1F}" sibTransId="{59D913CE-C4C7-4D46-968A-AD03F3A11A9C}"/>
    <dgm:cxn modelId="{51113514-9D41-4970-AB5D-588301F8C53C}" type="presOf" srcId="{10CDE37D-D866-4A67-925F-F9120A5CFB9C}" destId="{7C58DE9B-33E4-4F52-929E-F9CA11B78702}" srcOrd="0" destOrd="2" presId="urn:microsoft.com/office/officeart/2018/5/layout/CenteredIconLabelDescriptionList"/>
    <dgm:cxn modelId="{1AEFB51C-DDF4-46BD-89D4-02311BEF0DB0}" srcId="{107BEA5D-8787-498E-A75C-891B5A5EB347}" destId="{EEA6A7D8-D148-4BD2-9FA2-9D7A628C9ECA}" srcOrd="0" destOrd="0" parTransId="{6FBA38BA-A370-48F3-B7D3-3C16F3D1ABF7}" sibTransId="{A76C5C8E-55F2-4FA6-8D08-74B1277F1FFF}"/>
    <dgm:cxn modelId="{C3123F3F-16E4-41E3-83FA-CDA093C7C334}" type="presOf" srcId="{C5AF7948-DADF-4996-9B6B-8F04DBBF7C79}" destId="{7C58DE9B-33E4-4F52-929E-F9CA11B78702}" srcOrd="0" destOrd="1" presId="urn:microsoft.com/office/officeart/2018/5/layout/CenteredIconLabelDescriptionList"/>
    <dgm:cxn modelId="{33483442-69B8-41F7-A940-A9A9F96B6CB9}" type="presOf" srcId="{2A8D6C78-FD99-49C9-922F-547C2A424B4F}" destId="{A8408FCB-5BD2-48FA-92B9-53FDE700B617}" srcOrd="0" destOrd="0" presId="urn:microsoft.com/office/officeart/2018/5/layout/CenteredIconLabelDescriptionList"/>
    <dgm:cxn modelId="{BCAB8545-0FCF-4121-B3C0-EB6AEDD018F5}" srcId="{2A8D6C78-FD99-49C9-922F-547C2A424B4F}" destId="{107BEA5D-8787-498E-A75C-891B5A5EB347}" srcOrd="0" destOrd="0" parTransId="{F0818649-1D65-4D49-B344-2BF9F73EA427}" sibTransId="{DEF39928-AF55-4A2D-BFFD-88F86971763F}"/>
    <dgm:cxn modelId="{CB30007B-21A4-4F45-842F-65DC65F8FF59}" srcId="{7A1D5016-39CC-47B2-B930-06D8008E8BDE}" destId="{29F18D85-4268-47A0-87D3-CB81F4B1E5B9}" srcOrd="3" destOrd="0" parTransId="{AD454155-B95E-43DE-A4E7-D511F93DFE38}" sibTransId="{847568C5-4497-44BB-8C2F-BECB49F739E7}"/>
    <dgm:cxn modelId="{38888C82-245F-411C-BC84-A7E05E3D6511}" type="presOf" srcId="{7A1D5016-39CC-47B2-B930-06D8008E8BDE}" destId="{782824EC-4A24-40B7-B5F1-E0771E6CAAE2}" srcOrd="0" destOrd="0" presId="urn:microsoft.com/office/officeart/2018/5/layout/CenteredIconLabelDescriptionList"/>
    <dgm:cxn modelId="{FBFD7F8E-EC15-42D9-9E88-2DCD508A0E22}" srcId="{7A1D5016-39CC-47B2-B930-06D8008E8BDE}" destId="{BBA55132-8BDD-4B7F-BE67-5514E5127066}" srcOrd="0" destOrd="0" parTransId="{2AFA607C-6F42-43BD-A06E-7CF500DB9A8D}" sibTransId="{C0906865-5475-4E7E-A0E3-63AEAB169B2B}"/>
    <dgm:cxn modelId="{5F903694-D2A6-4F08-94D8-ABEC7BDEBDBC}" srcId="{7A1D5016-39CC-47B2-B930-06D8008E8BDE}" destId="{F2A0A2C0-BF56-41EB-ABEC-5AD956AEB2CA}" srcOrd="1" destOrd="0" parTransId="{082BAC37-7352-4459-AF38-1BE6006A3B78}" sibTransId="{65E55F7D-EC16-42AB-A23E-732673C7B883}"/>
    <dgm:cxn modelId="{DAEE1395-ADAD-40D2-A377-962B1DF69E2F}" type="presOf" srcId="{EEA6A7D8-D148-4BD2-9FA2-9D7A628C9ECA}" destId="{7C58DE9B-33E4-4F52-929E-F9CA11B78702}" srcOrd="0" destOrd="0" presId="urn:microsoft.com/office/officeart/2018/5/layout/CenteredIconLabelDescriptionList"/>
    <dgm:cxn modelId="{4E2E629E-6E2E-4D82-95ED-077D8314C30E}" srcId="{107BEA5D-8787-498E-A75C-891B5A5EB347}" destId="{10CDE37D-D866-4A67-925F-F9120A5CFB9C}" srcOrd="2" destOrd="0" parTransId="{0FEC58A4-4F56-4150-A0E0-D9B553D67989}" sibTransId="{85C5AC6F-AAFF-4A61-ABA5-FF2C42F99390}"/>
    <dgm:cxn modelId="{2D38B7A5-0F59-4F8A-86FE-09991E3360EB}" type="presOf" srcId="{F2A0A2C0-BF56-41EB-ABEC-5AD956AEB2CA}" destId="{939ECE39-A851-40EC-945E-6123C6967F3D}" srcOrd="0" destOrd="1" presId="urn:microsoft.com/office/officeart/2018/5/layout/CenteredIconLabelDescriptionList"/>
    <dgm:cxn modelId="{A1B127A9-FEAD-4FE5-976A-4E6D97E50049}" srcId="{7A1D5016-39CC-47B2-B930-06D8008E8BDE}" destId="{CDC7F389-111A-4AC5-BE6D-784CE6BCD96A}" srcOrd="2" destOrd="0" parTransId="{0B6F415E-3017-4F02-AC4C-9D899E539412}" sibTransId="{24E80042-F331-4135-9749-537A82EC1093}"/>
    <dgm:cxn modelId="{38FDD7AA-25D1-4284-8C75-594F27FD1D1F}" type="presOf" srcId="{BBA55132-8BDD-4B7F-BE67-5514E5127066}" destId="{939ECE39-A851-40EC-945E-6123C6967F3D}" srcOrd="0" destOrd="0" presId="urn:microsoft.com/office/officeart/2018/5/layout/CenteredIconLabelDescriptionList"/>
    <dgm:cxn modelId="{4243F4B0-8EA9-4E33-9DF3-6170E46525D4}" srcId="{107BEA5D-8787-498E-A75C-891B5A5EB347}" destId="{C5AF7948-DADF-4996-9B6B-8F04DBBF7C79}" srcOrd="1" destOrd="0" parTransId="{389C5C21-114C-4682-B2AA-82C9A5B33D3C}" sibTransId="{CB942A93-4CA3-4D77-8FA8-2D7052F9FA99}"/>
    <dgm:cxn modelId="{683C1EBC-A03B-46D9-9EA2-6CD76652BC59}" type="presOf" srcId="{29F18D85-4268-47A0-87D3-CB81F4B1E5B9}" destId="{939ECE39-A851-40EC-945E-6123C6967F3D}" srcOrd="0" destOrd="3" presId="urn:microsoft.com/office/officeart/2018/5/layout/CenteredIconLabelDescriptionList"/>
    <dgm:cxn modelId="{E0FF9FC4-0806-4190-9B8A-6072234A55C1}" type="presOf" srcId="{CDC7F389-111A-4AC5-BE6D-784CE6BCD96A}" destId="{939ECE39-A851-40EC-945E-6123C6967F3D}" srcOrd="0" destOrd="2" presId="urn:microsoft.com/office/officeart/2018/5/layout/CenteredIconLabelDescriptionList"/>
    <dgm:cxn modelId="{46E162D1-0DD0-4F1E-8D68-EE0B686B47C4}" type="presOf" srcId="{107BEA5D-8787-498E-A75C-891B5A5EB347}" destId="{62898CC8-ECC1-409A-BB83-6562CB45FF8F}" srcOrd="0" destOrd="0" presId="urn:microsoft.com/office/officeart/2018/5/layout/CenteredIconLabelDescriptionList"/>
    <dgm:cxn modelId="{1B4BD307-36AB-4104-BA2A-A5393F7CC2B6}" type="presParOf" srcId="{A8408FCB-5BD2-48FA-92B9-53FDE700B617}" destId="{B84B59C2-ADB1-4C3F-94A8-AA37C5AF6A4F}" srcOrd="0" destOrd="0" presId="urn:microsoft.com/office/officeart/2018/5/layout/CenteredIconLabelDescriptionList"/>
    <dgm:cxn modelId="{DA0C7EBA-07BB-460B-87DF-E3B5B3926A3B}" type="presParOf" srcId="{B84B59C2-ADB1-4C3F-94A8-AA37C5AF6A4F}" destId="{FE37171B-7C7A-40D1-BB06-FC6DCF15C51F}" srcOrd="0" destOrd="0" presId="urn:microsoft.com/office/officeart/2018/5/layout/CenteredIconLabelDescriptionList"/>
    <dgm:cxn modelId="{CF2C9127-6911-4855-BE7F-8707A534985B}" type="presParOf" srcId="{B84B59C2-ADB1-4C3F-94A8-AA37C5AF6A4F}" destId="{E71FCBE8-C3C0-4A3B-966C-0667A01ACBBD}" srcOrd="1" destOrd="0" presId="urn:microsoft.com/office/officeart/2018/5/layout/CenteredIconLabelDescriptionList"/>
    <dgm:cxn modelId="{B0DB6C72-0702-4639-9485-31039AF8BF07}" type="presParOf" srcId="{B84B59C2-ADB1-4C3F-94A8-AA37C5AF6A4F}" destId="{62898CC8-ECC1-409A-BB83-6562CB45FF8F}" srcOrd="2" destOrd="0" presId="urn:microsoft.com/office/officeart/2018/5/layout/CenteredIconLabelDescriptionList"/>
    <dgm:cxn modelId="{D8A09BAE-8E8C-4D2B-9F40-86BC11D383A9}" type="presParOf" srcId="{B84B59C2-ADB1-4C3F-94A8-AA37C5AF6A4F}" destId="{7A94401D-45CD-465C-9497-9F954AAB7BE0}" srcOrd="3" destOrd="0" presId="urn:microsoft.com/office/officeart/2018/5/layout/CenteredIconLabelDescriptionList"/>
    <dgm:cxn modelId="{579CAEC1-D92D-433D-BD0A-7A3B502D31E0}" type="presParOf" srcId="{B84B59C2-ADB1-4C3F-94A8-AA37C5AF6A4F}" destId="{7C58DE9B-33E4-4F52-929E-F9CA11B78702}" srcOrd="4" destOrd="0" presId="urn:microsoft.com/office/officeart/2018/5/layout/CenteredIconLabelDescriptionList"/>
    <dgm:cxn modelId="{8579827E-18D8-4C3B-880D-E65AD83D35D1}" type="presParOf" srcId="{A8408FCB-5BD2-48FA-92B9-53FDE700B617}" destId="{B22A9148-EE65-4803-B03E-A2BBEFED94DA}" srcOrd="1" destOrd="0" presId="urn:microsoft.com/office/officeart/2018/5/layout/CenteredIconLabelDescriptionList"/>
    <dgm:cxn modelId="{6DC83262-77C4-4BDB-85B5-43E70440345D}" type="presParOf" srcId="{A8408FCB-5BD2-48FA-92B9-53FDE700B617}" destId="{66C457B4-B484-41D3-86DA-F850EEC81C3D}" srcOrd="2" destOrd="0" presId="urn:microsoft.com/office/officeart/2018/5/layout/CenteredIconLabelDescriptionList"/>
    <dgm:cxn modelId="{53160056-DEBB-410A-82A3-589D5109C332}" type="presParOf" srcId="{66C457B4-B484-41D3-86DA-F850EEC81C3D}" destId="{C0A854F7-C01E-4CAA-9DB7-70A34C9C9018}" srcOrd="0" destOrd="0" presId="urn:microsoft.com/office/officeart/2018/5/layout/CenteredIconLabelDescriptionList"/>
    <dgm:cxn modelId="{F5B6D524-D544-476E-8E0F-962EC3247017}" type="presParOf" srcId="{66C457B4-B484-41D3-86DA-F850EEC81C3D}" destId="{A54A9B4E-4F05-4B4C-AE82-C725DA0AD0F1}" srcOrd="1" destOrd="0" presId="urn:microsoft.com/office/officeart/2018/5/layout/CenteredIconLabelDescriptionList"/>
    <dgm:cxn modelId="{55728E4E-5E04-4CB2-AFEA-3BE047D1FC76}" type="presParOf" srcId="{66C457B4-B484-41D3-86DA-F850EEC81C3D}" destId="{782824EC-4A24-40B7-B5F1-E0771E6CAAE2}" srcOrd="2" destOrd="0" presId="urn:microsoft.com/office/officeart/2018/5/layout/CenteredIconLabelDescriptionList"/>
    <dgm:cxn modelId="{07962497-E332-4994-951D-72AD3FD09E2C}" type="presParOf" srcId="{66C457B4-B484-41D3-86DA-F850EEC81C3D}" destId="{D29A8DF4-5331-4E6D-8914-97DB1EC03F7D}" srcOrd="3" destOrd="0" presId="urn:microsoft.com/office/officeart/2018/5/layout/CenteredIconLabelDescriptionList"/>
    <dgm:cxn modelId="{646FC960-CA52-4ACE-94C4-7E3E15A64CA1}" type="presParOf" srcId="{66C457B4-B484-41D3-86DA-F850EEC81C3D}" destId="{939ECE39-A851-40EC-945E-6123C6967F3D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2C386F4-B02B-4AA3-85BD-5575308CD859}" type="doc">
      <dgm:prSet loTypeId="urn:microsoft.com/office/officeart/2005/8/layout/vList2" loCatId="list" qsTypeId="urn:microsoft.com/office/officeart/2005/8/quickstyle/simple4" qsCatId="simple" csTypeId="urn:microsoft.com/office/officeart/2005/8/colors/accent1_5" csCatId="accent1" phldr="1"/>
      <dgm:spPr/>
      <dgm:t>
        <a:bodyPr/>
        <a:lstStyle/>
        <a:p>
          <a:endParaRPr lang="en-US"/>
        </a:p>
      </dgm:t>
    </dgm:pt>
    <dgm:pt modelId="{3D306D8B-73AA-4B3F-8F30-7B2E51639D3C}">
      <dgm:prSet/>
      <dgm:spPr/>
      <dgm:t>
        <a:bodyPr/>
        <a:lstStyle/>
        <a:p>
          <a:r>
            <a:rPr lang="en-US" dirty="0"/>
            <a:t>Basic assembler directives</a:t>
          </a:r>
        </a:p>
      </dgm:t>
    </dgm:pt>
    <dgm:pt modelId="{85D3542D-D0D6-42EF-AD4C-4E573C6A3D80}" type="parTrans" cxnId="{C428F80E-A02B-4D49-9114-593434BEEB53}">
      <dgm:prSet/>
      <dgm:spPr/>
      <dgm:t>
        <a:bodyPr/>
        <a:lstStyle/>
        <a:p>
          <a:endParaRPr lang="en-US"/>
        </a:p>
      </dgm:t>
    </dgm:pt>
    <dgm:pt modelId="{8E2B7274-723B-4450-8EFE-7D51E1C39AEE}" type="sibTrans" cxnId="{C428F80E-A02B-4D49-9114-593434BEEB53}">
      <dgm:prSet/>
      <dgm:spPr/>
      <dgm:t>
        <a:bodyPr/>
        <a:lstStyle/>
        <a:p>
          <a:endParaRPr lang="en-US"/>
        </a:p>
      </dgm:t>
    </dgm:pt>
    <dgm:pt modelId="{32802CE6-B964-4DA6-9A3A-F8C96392EC05}">
      <dgm:prSet/>
      <dgm:spPr/>
      <dgm:t>
        <a:bodyPr/>
        <a:lstStyle/>
        <a:p>
          <a:endParaRPr lang="en-US" sz="2200" kern="1200" dirty="0">
            <a:solidFill>
              <a:schemeClr val="accent1">
                <a:lumMod val="75000"/>
              </a:schemeClr>
            </a:solidFill>
          </a:endParaRPr>
        </a:p>
      </dgm:t>
    </dgm:pt>
    <dgm:pt modelId="{2EE80EDA-DD5C-40E9-A53C-65F751E51173}" type="parTrans" cxnId="{7272301D-3622-4B63-BB3B-72CFF399422A}">
      <dgm:prSet/>
      <dgm:spPr/>
      <dgm:t>
        <a:bodyPr/>
        <a:lstStyle/>
        <a:p>
          <a:endParaRPr lang="en-US"/>
        </a:p>
      </dgm:t>
    </dgm:pt>
    <dgm:pt modelId="{26E3D13F-AD26-427A-A042-0EAD8E16AA79}" type="sibTrans" cxnId="{7272301D-3622-4B63-BB3B-72CFF399422A}">
      <dgm:prSet/>
      <dgm:spPr/>
      <dgm:t>
        <a:bodyPr/>
        <a:lstStyle/>
        <a:p>
          <a:endParaRPr lang="en-US"/>
        </a:p>
      </dgm:t>
    </dgm:pt>
    <dgm:pt modelId="{888F098A-40BA-4319-B774-98D6694F1117}">
      <dgm:prSet/>
      <dgm:spPr/>
      <dgm:t>
        <a:bodyPr/>
        <a:lstStyle/>
        <a:p>
          <a:r>
            <a:rPr lang="en-US" sz="2200" b="1" kern="1200" dirty="0"/>
            <a:t>END: </a:t>
          </a:r>
          <a:r>
            <a:rPr lang="en-US" sz="2200" kern="1200" dirty="0">
              <a:solidFill>
                <a:schemeClr val="accent1">
                  <a:lumMod val="75000"/>
                </a:schemeClr>
              </a:solidFill>
            </a:rPr>
            <a:t>Indicate the end of the source program, and (optionally) the first executable instruction in the program.</a:t>
          </a:r>
        </a:p>
      </dgm:t>
    </dgm:pt>
    <dgm:pt modelId="{CF72750F-F2C1-4E2B-B7B1-A7E7FC157AE2}" type="parTrans" cxnId="{5B1CDB21-1CDB-4826-ADB8-D5719263C62B}">
      <dgm:prSet/>
      <dgm:spPr/>
      <dgm:t>
        <a:bodyPr/>
        <a:lstStyle/>
        <a:p>
          <a:endParaRPr lang="en-US"/>
        </a:p>
      </dgm:t>
    </dgm:pt>
    <dgm:pt modelId="{98CF37AB-9779-4D7D-B8F6-CA6E0ED8D11B}" type="sibTrans" cxnId="{5B1CDB21-1CDB-4826-ADB8-D5719263C62B}">
      <dgm:prSet/>
      <dgm:spPr/>
      <dgm:t>
        <a:bodyPr/>
        <a:lstStyle/>
        <a:p>
          <a:endParaRPr lang="en-US"/>
        </a:p>
      </dgm:t>
    </dgm:pt>
    <dgm:pt modelId="{8FCE270A-879D-42C2-8E14-10C4368A615C}">
      <dgm:prSet/>
      <dgm:spPr/>
      <dgm:t>
        <a:bodyPr/>
        <a:lstStyle/>
        <a:p>
          <a:r>
            <a:rPr lang="en-US" sz="2200" b="1" kern="1200" dirty="0"/>
            <a:t>BYTE: </a:t>
          </a:r>
          <a:r>
            <a:rPr lang="en-US" sz="2200" kern="1200" dirty="0">
              <a:solidFill>
                <a:schemeClr val="accent1">
                  <a:lumMod val="75000"/>
                </a:schemeClr>
              </a:solidFill>
            </a:rPr>
            <a:t>Generate character or hexadecimal constant, occupying as many bytes as needed to represent the constant.</a:t>
          </a:r>
        </a:p>
      </dgm:t>
    </dgm:pt>
    <dgm:pt modelId="{C77C1643-F65E-48D1-B437-BF45A42D46E4}" type="parTrans" cxnId="{AAF70C3A-8F76-411C-A4D4-6673A35B73F6}">
      <dgm:prSet/>
      <dgm:spPr/>
      <dgm:t>
        <a:bodyPr/>
        <a:lstStyle/>
        <a:p>
          <a:endParaRPr lang="en-US"/>
        </a:p>
      </dgm:t>
    </dgm:pt>
    <dgm:pt modelId="{1223B538-9753-4E3A-9CA8-12F3527A192A}" type="sibTrans" cxnId="{AAF70C3A-8F76-411C-A4D4-6673A35B73F6}">
      <dgm:prSet/>
      <dgm:spPr/>
      <dgm:t>
        <a:bodyPr/>
        <a:lstStyle/>
        <a:p>
          <a:endParaRPr lang="en-US"/>
        </a:p>
      </dgm:t>
    </dgm:pt>
    <dgm:pt modelId="{4AABB4A0-644C-4DC4-80E6-15EDEC9DE2DF}">
      <dgm:prSet/>
      <dgm:spPr/>
      <dgm:t>
        <a:bodyPr/>
        <a:lstStyle/>
        <a:p>
          <a:r>
            <a:rPr lang="en-US" sz="2200" b="1" kern="1200" dirty="0"/>
            <a:t>WORD: </a:t>
          </a:r>
          <a:r>
            <a:rPr lang="en-US" sz="2200" kern="1200" dirty="0">
              <a:solidFill>
                <a:schemeClr val="accent1">
                  <a:lumMod val="75000"/>
                </a:schemeClr>
              </a:solidFill>
            </a:rPr>
            <a:t>Generate one-word integer constant</a:t>
          </a:r>
        </a:p>
      </dgm:t>
    </dgm:pt>
    <dgm:pt modelId="{834B9380-215F-47C7-A5E1-FD8E2D75D381}" type="parTrans" cxnId="{0E146154-AA28-4A62-8851-FEED94866C16}">
      <dgm:prSet/>
      <dgm:spPr/>
      <dgm:t>
        <a:bodyPr/>
        <a:lstStyle/>
        <a:p>
          <a:endParaRPr lang="en-US"/>
        </a:p>
      </dgm:t>
    </dgm:pt>
    <dgm:pt modelId="{22F58946-B65F-4E7C-A32E-350B011508BF}" type="sibTrans" cxnId="{0E146154-AA28-4A62-8851-FEED94866C16}">
      <dgm:prSet/>
      <dgm:spPr/>
      <dgm:t>
        <a:bodyPr/>
        <a:lstStyle/>
        <a:p>
          <a:endParaRPr lang="en-US"/>
        </a:p>
      </dgm:t>
    </dgm:pt>
    <dgm:pt modelId="{36852E63-0535-4105-8DBF-3FBEF477B48A}">
      <dgm:prSet custT="1"/>
      <dgm:spPr/>
      <dgm:t>
        <a:bodyPr/>
        <a:lstStyle/>
        <a:p>
          <a:r>
            <a:rPr lang="en-US" sz="22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RESB: </a:t>
          </a:r>
          <a:r>
            <a:rPr lang="en-US" sz="2200" kern="1200" dirty="0">
              <a:solidFill>
                <a:schemeClr val="accent1">
                  <a:lumMod val="75000"/>
                </a:schemeClr>
              </a:solidFill>
            </a:rPr>
            <a:t>Reserve the indicated number of bytes for a data area</a:t>
          </a:r>
        </a:p>
      </dgm:t>
    </dgm:pt>
    <dgm:pt modelId="{1CF91D82-9A07-4FEB-9FC5-77E37F9F91BF}" type="parTrans" cxnId="{4786686F-7A97-4509-BBC3-1F781479D7D6}">
      <dgm:prSet/>
      <dgm:spPr/>
      <dgm:t>
        <a:bodyPr/>
        <a:lstStyle/>
        <a:p>
          <a:endParaRPr lang="en-US"/>
        </a:p>
      </dgm:t>
    </dgm:pt>
    <dgm:pt modelId="{869E9BA9-6534-41D1-94AB-3C036F333EA1}" type="sibTrans" cxnId="{4786686F-7A97-4509-BBC3-1F781479D7D6}">
      <dgm:prSet/>
      <dgm:spPr/>
      <dgm:t>
        <a:bodyPr/>
        <a:lstStyle/>
        <a:p>
          <a:endParaRPr lang="en-US"/>
        </a:p>
      </dgm:t>
    </dgm:pt>
    <dgm:pt modelId="{411A6B21-CE47-4E03-95BC-9D04667AD3B0}">
      <dgm:prSet/>
      <dgm:spPr/>
      <dgm:t>
        <a:bodyPr/>
        <a:lstStyle/>
        <a:p>
          <a:r>
            <a:rPr lang="en-US" sz="2200" b="1" kern="1200" dirty="0"/>
            <a:t>RESW: </a:t>
          </a:r>
          <a:r>
            <a:rPr lang="en-US" sz="2200" kern="1200" dirty="0">
              <a:solidFill>
                <a:schemeClr val="accent1">
                  <a:lumMod val="75000"/>
                </a:schemeClr>
              </a:solidFill>
            </a:rPr>
            <a:t>Reserve the indicated number of words for a data area</a:t>
          </a:r>
        </a:p>
      </dgm:t>
    </dgm:pt>
    <dgm:pt modelId="{B3ACB215-860F-4087-8B4E-0530919BAE6F}" type="parTrans" cxnId="{8D0560D9-4127-4394-A6C0-9EADABADD8E6}">
      <dgm:prSet/>
      <dgm:spPr/>
      <dgm:t>
        <a:bodyPr/>
        <a:lstStyle/>
        <a:p>
          <a:endParaRPr lang="en-US"/>
        </a:p>
      </dgm:t>
    </dgm:pt>
    <dgm:pt modelId="{CA8645A5-1FE2-48F4-B660-F9BE8013E421}" type="sibTrans" cxnId="{8D0560D9-4127-4394-A6C0-9EADABADD8E6}">
      <dgm:prSet/>
      <dgm:spPr/>
      <dgm:t>
        <a:bodyPr/>
        <a:lstStyle/>
        <a:p>
          <a:endParaRPr lang="en-US"/>
        </a:p>
      </dgm:t>
    </dgm:pt>
    <dgm:pt modelId="{10406DFC-EB89-4E6D-872C-C40F5ACCDA50}">
      <dgm:prSet/>
      <dgm:spPr/>
      <dgm:t>
        <a:bodyPr/>
        <a:lstStyle/>
        <a:p>
          <a:endParaRPr lang="en-US" sz="2200" kern="1200" dirty="0">
            <a:solidFill>
              <a:schemeClr val="accent1">
                <a:lumMod val="75000"/>
              </a:schemeClr>
            </a:solidFill>
          </a:endParaRPr>
        </a:p>
      </dgm:t>
    </dgm:pt>
    <dgm:pt modelId="{172E197E-341F-476A-983B-DF4AD00043A7}" type="parTrans" cxnId="{D4F97889-7AEF-4B0D-8BAD-04D5355BBD8D}">
      <dgm:prSet/>
      <dgm:spPr/>
      <dgm:t>
        <a:bodyPr/>
        <a:lstStyle/>
        <a:p>
          <a:endParaRPr lang="en-US"/>
        </a:p>
      </dgm:t>
    </dgm:pt>
    <dgm:pt modelId="{0F0AC0E0-432C-4096-AD8E-218560C94EDB}" type="sibTrans" cxnId="{D4F97889-7AEF-4B0D-8BAD-04D5355BBD8D}">
      <dgm:prSet/>
      <dgm:spPr/>
      <dgm:t>
        <a:bodyPr/>
        <a:lstStyle/>
        <a:p>
          <a:endParaRPr lang="en-US"/>
        </a:p>
      </dgm:t>
    </dgm:pt>
    <dgm:pt modelId="{26B42F7B-D0AB-43E5-8889-1D353ED3CA6B}">
      <dgm:prSet/>
      <dgm:spPr/>
      <dgm:t>
        <a:bodyPr/>
        <a:lstStyle/>
        <a:p>
          <a:endParaRPr lang="en-US" sz="2200" kern="1200" dirty="0">
            <a:solidFill>
              <a:schemeClr val="accent1">
                <a:lumMod val="75000"/>
              </a:schemeClr>
            </a:solidFill>
          </a:endParaRPr>
        </a:p>
      </dgm:t>
    </dgm:pt>
    <dgm:pt modelId="{B96D9A99-A92C-4008-ACD8-7C95831F465A}" type="parTrans" cxnId="{23627ABB-E6E2-4EF9-B19E-469165E01E3B}">
      <dgm:prSet/>
      <dgm:spPr/>
      <dgm:t>
        <a:bodyPr/>
        <a:lstStyle/>
        <a:p>
          <a:endParaRPr lang="en-US"/>
        </a:p>
      </dgm:t>
    </dgm:pt>
    <dgm:pt modelId="{8446C7FF-7F8D-4EED-BE11-B65B001815C3}" type="sibTrans" cxnId="{23627ABB-E6E2-4EF9-B19E-469165E01E3B}">
      <dgm:prSet/>
      <dgm:spPr/>
      <dgm:t>
        <a:bodyPr/>
        <a:lstStyle/>
        <a:p>
          <a:endParaRPr lang="en-US"/>
        </a:p>
      </dgm:t>
    </dgm:pt>
    <dgm:pt modelId="{DCA36B38-225F-4780-B01F-284EB5FFF3C2}">
      <dgm:prSet/>
      <dgm:spPr/>
      <dgm:t>
        <a:bodyPr/>
        <a:lstStyle/>
        <a:p>
          <a:r>
            <a:rPr lang="en-US" sz="2200" b="1" kern="1200" dirty="0"/>
            <a:t>START: </a:t>
          </a:r>
          <a:r>
            <a:rPr lang="en-US" sz="2200" kern="1200" dirty="0">
              <a:solidFill>
                <a:schemeClr val="accent1">
                  <a:lumMod val="75000"/>
                </a:schemeClr>
              </a:solidFill>
            </a:rPr>
            <a:t>Specify name and starting address for the program</a:t>
          </a:r>
        </a:p>
      </dgm:t>
    </dgm:pt>
    <dgm:pt modelId="{357D1A03-5BB3-450C-B332-ACC9F02FF2B6}" type="parTrans" cxnId="{D5FF467A-AE03-4795-89FC-42827BE7DA6C}">
      <dgm:prSet/>
      <dgm:spPr/>
      <dgm:t>
        <a:bodyPr/>
        <a:lstStyle/>
        <a:p>
          <a:endParaRPr lang="en-US"/>
        </a:p>
      </dgm:t>
    </dgm:pt>
    <dgm:pt modelId="{DCF9F4F2-641C-4933-9722-F4F789FA4AA1}" type="sibTrans" cxnId="{D5FF467A-AE03-4795-89FC-42827BE7DA6C}">
      <dgm:prSet/>
      <dgm:spPr/>
      <dgm:t>
        <a:bodyPr/>
        <a:lstStyle/>
        <a:p>
          <a:endParaRPr lang="en-US"/>
        </a:p>
      </dgm:t>
    </dgm:pt>
    <dgm:pt modelId="{2FA965E3-0AA6-4C61-971F-175B65E88D05}" type="pres">
      <dgm:prSet presAssocID="{D2C386F4-B02B-4AA3-85BD-5575308CD859}" presName="linear" presStyleCnt="0">
        <dgm:presLayoutVars>
          <dgm:animLvl val="lvl"/>
          <dgm:resizeHandles val="exact"/>
        </dgm:presLayoutVars>
      </dgm:prSet>
      <dgm:spPr/>
    </dgm:pt>
    <dgm:pt modelId="{43366E65-5501-4FF2-8577-67AFD5DA1429}" type="pres">
      <dgm:prSet presAssocID="{3D306D8B-73AA-4B3F-8F30-7B2E51639D3C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F3D04EA0-14F9-4839-B0F5-D794B525BBE1}" type="pres">
      <dgm:prSet presAssocID="{3D306D8B-73AA-4B3F-8F30-7B2E51639D3C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8796CA04-B199-48C1-BB35-99A55DD3B538}" type="presOf" srcId="{D2C386F4-B02B-4AA3-85BD-5575308CD859}" destId="{2FA965E3-0AA6-4C61-971F-175B65E88D05}" srcOrd="0" destOrd="0" presId="urn:microsoft.com/office/officeart/2005/8/layout/vList2"/>
    <dgm:cxn modelId="{C428F80E-A02B-4D49-9114-593434BEEB53}" srcId="{D2C386F4-B02B-4AA3-85BD-5575308CD859}" destId="{3D306D8B-73AA-4B3F-8F30-7B2E51639D3C}" srcOrd="0" destOrd="0" parTransId="{85D3542D-D0D6-42EF-AD4C-4E573C6A3D80}" sibTransId="{8E2B7274-723B-4450-8EFE-7D51E1C39AEE}"/>
    <dgm:cxn modelId="{7272301D-3622-4B63-BB3B-72CFF399422A}" srcId="{3D306D8B-73AA-4B3F-8F30-7B2E51639D3C}" destId="{32802CE6-B964-4DA6-9A3A-F8C96392EC05}" srcOrd="0" destOrd="0" parTransId="{2EE80EDA-DD5C-40E9-A53C-65F751E51173}" sibTransId="{26E3D13F-AD26-427A-A042-0EAD8E16AA79}"/>
    <dgm:cxn modelId="{5B1CDB21-1CDB-4826-ADB8-D5719263C62B}" srcId="{3D306D8B-73AA-4B3F-8F30-7B2E51639D3C}" destId="{888F098A-40BA-4319-B774-98D6694F1117}" srcOrd="2" destOrd="0" parTransId="{CF72750F-F2C1-4E2B-B7B1-A7E7FC157AE2}" sibTransId="{98CF37AB-9779-4D7D-B8F6-CA6E0ED8D11B}"/>
    <dgm:cxn modelId="{D9585439-3C27-407C-80AA-C53B182AC943}" type="presOf" srcId="{3D306D8B-73AA-4B3F-8F30-7B2E51639D3C}" destId="{43366E65-5501-4FF2-8577-67AFD5DA1429}" srcOrd="0" destOrd="0" presId="urn:microsoft.com/office/officeart/2005/8/layout/vList2"/>
    <dgm:cxn modelId="{AAF70C3A-8F76-411C-A4D4-6673A35B73F6}" srcId="{3D306D8B-73AA-4B3F-8F30-7B2E51639D3C}" destId="{8FCE270A-879D-42C2-8E14-10C4368A615C}" srcOrd="3" destOrd="0" parTransId="{C77C1643-F65E-48D1-B437-BF45A42D46E4}" sibTransId="{1223B538-9753-4E3A-9CA8-12F3527A192A}"/>
    <dgm:cxn modelId="{4786686F-7A97-4509-BBC3-1F781479D7D6}" srcId="{3D306D8B-73AA-4B3F-8F30-7B2E51639D3C}" destId="{36852E63-0535-4105-8DBF-3FBEF477B48A}" srcOrd="5" destOrd="0" parTransId="{1CF91D82-9A07-4FEB-9FC5-77E37F9F91BF}" sibTransId="{869E9BA9-6534-41D1-94AB-3C036F333EA1}"/>
    <dgm:cxn modelId="{0E146154-AA28-4A62-8851-FEED94866C16}" srcId="{3D306D8B-73AA-4B3F-8F30-7B2E51639D3C}" destId="{4AABB4A0-644C-4DC4-80E6-15EDEC9DE2DF}" srcOrd="4" destOrd="0" parTransId="{834B9380-215F-47C7-A5E1-FD8E2D75D381}" sibTransId="{22F58946-B65F-4E7C-A32E-350B011508BF}"/>
    <dgm:cxn modelId="{B1D80B57-A30B-42FD-819E-0858C39A1C6A}" type="presOf" srcId="{888F098A-40BA-4319-B774-98D6694F1117}" destId="{F3D04EA0-14F9-4839-B0F5-D794B525BBE1}" srcOrd="0" destOrd="2" presId="urn:microsoft.com/office/officeart/2005/8/layout/vList2"/>
    <dgm:cxn modelId="{D5FF467A-AE03-4795-89FC-42827BE7DA6C}" srcId="{3D306D8B-73AA-4B3F-8F30-7B2E51639D3C}" destId="{DCA36B38-225F-4780-B01F-284EB5FFF3C2}" srcOrd="1" destOrd="0" parTransId="{357D1A03-5BB3-450C-B332-ACC9F02FF2B6}" sibTransId="{DCF9F4F2-641C-4933-9722-F4F789FA4AA1}"/>
    <dgm:cxn modelId="{C2FCBD82-5B89-4EF6-A3A4-9B3255397CBB}" type="presOf" srcId="{411A6B21-CE47-4E03-95BC-9D04667AD3B0}" destId="{F3D04EA0-14F9-4839-B0F5-D794B525BBE1}" srcOrd="0" destOrd="6" presId="urn:microsoft.com/office/officeart/2005/8/layout/vList2"/>
    <dgm:cxn modelId="{6AD93A85-DADA-4105-9C00-CA702BB8B881}" type="presOf" srcId="{32802CE6-B964-4DA6-9A3A-F8C96392EC05}" destId="{F3D04EA0-14F9-4839-B0F5-D794B525BBE1}" srcOrd="0" destOrd="0" presId="urn:microsoft.com/office/officeart/2005/8/layout/vList2"/>
    <dgm:cxn modelId="{D4F97889-7AEF-4B0D-8BAD-04D5355BBD8D}" srcId="{3D306D8B-73AA-4B3F-8F30-7B2E51639D3C}" destId="{10406DFC-EB89-4E6D-872C-C40F5ACCDA50}" srcOrd="7" destOrd="0" parTransId="{172E197E-341F-476A-983B-DF4AD00043A7}" sibTransId="{0F0AC0E0-432C-4096-AD8E-218560C94EDB}"/>
    <dgm:cxn modelId="{062BA394-6E51-4EED-AABB-5171310E0283}" type="presOf" srcId="{8FCE270A-879D-42C2-8E14-10C4368A615C}" destId="{F3D04EA0-14F9-4839-B0F5-D794B525BBE1}" srcOrd="0" destOrd="3" presId="urn:microsoft.com/office/officeart/2005/8/layout/vList2"/>
    <dgm:cxn modelId="{E7068AA2-12AA-43FF-A122-A5F67652A8F0}" type="presOf" srcId="{10406DFC-EB89-4E6D-872C-C40F5ACCDA50}" destId="{F3D04EA0-14F9-4839-B0F5-D794B525BBE1}" srcOrd="0" destOrd="7" presId="urn:microsoft.com/office/officeart/2005/8/layout/vList2"/>
    <dgm:cxn modelId="{2C9901AB-567E-4B5D-80BA-DB29EF1012DC}" type="presOf" srcId="{26B42F7B-D0AB-43E5-8889-1D353ED3CA6B}" destId="{F3D04EA0-14F9-4839-B0F5-D794B525BBE1}" srcOrd="0" destOrd="8" presId="urn:microsoft.com/office/officeart/2005/8/layout/vList2"/>
    <dgm:cxn modelId="{23627ABB-E6E2-4EF9-B19E-469165E01E3B}" srcId="{3D306D8B-73AA-4B3F-8F30-7B2E51639D3C}" destId="{26B42F7B-D0AB-43E5-8889-1D353ED3CA6B}" srcOrd="8" destOrd="0" parTransId="{B96D9A99-A92C-4008-ACD8-7C95831F465A}" sibTransId="{8446C7FF-7F8D-4EED-BE11-B65B001815C3}"/>
    <dgm:cxn modelId="{38972EC8-5F54-4219-8ED7-8D3C1CA80028}" type="presOf" srcId="{4AABB4A0-644C-4DC4-80E6-15EDEC9DE2DF}" destId="{F3D04EA0-14F9-4839-B0F5-D794B525BBE1}" srcOrd="0" destOrd="4" presId="urn:microsoft.com/office/officeart/2005/8/layout/vList2"/>
    <dgm:cxn modelId="{8D0560D9-4127-4394-A6C0-9EADABADD8E6}" srcId="{3D306D8B-73AA-4B3F-8F30-7B2E51639D3C}" destId="{411A6B21-CE47-4E03-95BC-9D04667AD3B0}" srcOrd="6" destOrd="0" parTransId="{B3ACB215-860F-4087-8B4E-0530919BAE6F}" sibTransId="{CA8645A5-1FE2-48F4-B660-F9BE8013E421}"/>
    <dgm:cxn modelId="{684FD0D9-D7B3-4223-8F53-96845B906529}" type="presOf" srcId="{36852E63-0535-4105-8DBF-3FBEF477B48A}" destId="{F3D04EA0-14F9-4839-B0F5-D794B525BBE1}" srcOrd="0" destOrd="5" presId="urn:microsoft.com/office/officeart/2005/8/layout/vList2"/>
    <dgm:cxn modelId="{A5D4BFED-4A0B-460D-A3DE-FF3C0039B5D6}" type="presOf" srcId="{DCA36B38-225F-4780-B01F-284EB5FFF3C2}" destId="{F3D04EA0-14F9-4839-B0F5-D794B525BBE1}" srcOrd="0" destOrd="1" presId="urn:microsoft.com/office/officeart/2005/8/layout/vList2"/>
    <dgm:cxn modelId="{9FFD9865-01D6-491C-8DB7-56582F0C07C1}" type="presParOf" srcId="{2FA965E3-0AA6-4C61-971F-175B65E88D05}" destId="{43366E65-5501-4FF2-8577-67AFD5DA1429}" srcOrd="0" destOrd="0" presId="urn:microsoft.com/office/officeart/2005/8/layout/vList2"/>
    <dgm:cxn modelId="{3F032152-9510-42AD-925C-EECC39A92B0C}" type="presParOf" srcId="{2FA965E3-0AA6-4C61-971F-175B65E88D05}" destId="{F3D04EA0-14F9-4839-B0F5-D794B525BBE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37171B-7C7A-40D1-BB06-FC6DCF15C51F}">
      <dsp:nvSpPr>
        <dsp:cNvPr id="0" name=""/>
        <dsp:cNvSpPr/>
      </dsp:nvSpPr>
      <dsp:spPr>
        <a:xfrm>
          <a:off x="2447750" y="0"/>
          <a:ext cx="1509048" cy="9834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898CC8-ECC1-409A-BB83-6562CB45FF8F}">
      <dsp:nvSpPr>
        <dsp:cNvPr id="0" name=""/>
        <dsp:cNvSpPr/>
      </dsp:nvSpPr>
      <dsp:spPr>
        <a:xfrm>
          <a:off x="1046491" y="1048048"/>
          <a:ext cx="4311566" cy="4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700" kern="1200"/>
            <a:t>Memory</a:t>
          </a:r>
        </a:p>
      </dsp:txBody>
      <dsp:txXfrm>
        <a:off x="1046491" y="1048048"/>
        <a:ext cx="4311566" cy="421468"/>
      </dsp:txXfrm>
    </dsp:sp>
    <dsp:sp modelId="{7C58DE9B-33E4-4F52-929E-F9CA11B78702}">
      <dsp:nvSpPr>
        <dsp:cNvPr id="0" name=""/>
        <dsp:cNvSpPr/>
      </dsp:nvSpPr>
      <dsp:spPr>
        <a:xfrm>
          <a:off x="1046491" y="1499574"/>
          <a:ext cx="4311566" cy="8087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it consists of 8-bit bytes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3 consecutive byte from a word(24 bits)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Total of 32768 (2^15) bytes in the computer memory</a:t>
          </a:r>
        </a:p>
      </dsp:txBody>
      <dsp:txXfrm>
        <a:off x="1046491" y="1499574"/>
        <a:ext cx="4311566" cy="808749"/>
      </dsp:txXfrm>
    </dsp:sp>
    <dsp:sp modelId="{C0A854F7-C01E-4CAA-9DB7-70A34C9C9018}">
      <dsp:nvSpPr>
        <dsp:cNvPr id="0" name=""/>
        <dsp:cNvSpPr/>
      </dsp:nvSpPr>
      <dsp:spPr>
        <a:xfrm>
          <a:off x="7513841" y="0"/>
          <a:ext cx="1509048" cy="9834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2824EC-4A24-40B7-B5F1-E0771E6CAAE2}">
      <dsp:nvSpPr>
        <dsp:cNvPr id="0" name=""/>
        <dsp:cNvSpPr/>
      </dsp:nvSpPr>
      <dsp:spPr>
        <a:xfrm>
          <a:off x="6112582" y="1048048"/>
          <a:ext cx="4311566" cy="4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700" kern="1200" dirty="0"/>
            <a:t>Data Formats</a:t>
          </a:r>
        </a:p>
      </dsp:txBody>
      <dsp:txXfrm>
        <a:off x="6112582" y="1048048"/>
        <a:ext cx="4311566" cy="421468"/>
      </dsp:txXfrm>
    </dsp:sp>
    <dsp:sp modelId="{939ECE39-A851-40EC-945E-6123C6967F3D}">
      <dsp:nvSpPr>
        <dsp:cNvPr id="0" name=""/>
        <dsp:cNvSpPr/>
      </dsp:nvSpPr>
      <dsp:spPr>
        <a:xfrm>
          <a:off x="6112582" y="1499574"/>
          <a:ext cx="4311566" cy="8087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Integers are stored as 24-bit binary numbers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2’S complement representation is used for negative values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Characters are stored using their 8-bit ASCII codes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No floating-point hardware on the standard version of sic</a:t>
          </a:r>
        </a:p>
      </dsp:txBody>
      <dsp:txXfrm>
        <a:off x="6112582" y="1499574"/>
        <a:ext cx="4311566" cy="80874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366E65-5501-4FF2-8577-67AFD5DA1429}">
      <dsp:nvSpPr>
        <dsp:cNvPr id="0" name=""/>
        <dsp:cNvSpPr/>
      </dsp:nvSpPr>
      <dsp:spPr>
        <a:xfrm>
          <a:off x="0" y="12497"/>
          <a:ext cx="6666833" cy="1031354"/>
        </a:xfrm>
        <a:prstGeom prst="round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alpha val="9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dirty="0"/>
            <a:t>Basic assembler directives</a:t>
          </a:r>
        </a:p>
      </dsp:txBody>
      <dsp:txXfrm>
        <a:off x="50347" y="62844"/>
        <a:ext cx="6566139" cy="930660"/>
      </dsp:txXfrm>
    </dsp:sp>
    <dsp:sp modelId="{F3D04EA0-14F9-4839-B0F5-D794B525BBE1}">
      <dsp:nvSpPr>
        <dsp:cNvPr id="0" name=""/>
        <dsp:cNvSpPr/>
      </dsp:nvSpPr>
      <dsp:spPr>
        <a:xfrm>
          <a:off x="0" y="1043852"/>
          <a:ext cx="6666833" cy="55186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27940" rIns="156464" bIns="2794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2200" kern="1200" dirty="0">
            <a:solidFill>
              <a:schemeClr val="accent1">
                <a:lumMod val="75000"/>
              </a:schemeClr>
            </a:solidFill>
          </a:endParaRP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b="1" kern="1200" dirty="0"/>
            <a:t>START: </a:t>
          </a:r>
          <a:r>
            <a:rPr lang="en-US" sz="2200" kern="1200" dirty="0">
              <a:solidFill>
                <a:schemeClr val="accent1">
                  <a:lumMod val="75000"/>
                </a:schemeClr>
              </a:solidFill>
            </a:rPr>
            <a:t>Specify name and starting address for the program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b="1" kern="1200" dirty="0"/>
            <a:t>END: </a:t>
          </a:r>
          <a:r>
            <a:rPr lang="en-US" sz="2200" kern="1200" dirty="0">
              <a:solidFill>
                <a:schemeClr val="accent1">
                  <a:lumMod val="75000"/>
                </a:schemeClr>
              </a:solidFill>
            </a:rPr>
            <a:t>Indicate the end of the source program, and (optionally) the first executable instruction in the program.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b="1" kern="1200" dirty="0"/>
            <a:t>BYTE: </a:t>
          </a:r>
          <a:r>
            <a:rPr lang="en-US" sz="2200" kern="1200" dirty="0">
              <a:solidFill>
                <a:schemeClr val="accent1">
                  <a:lumMod val="75000"/>
                </a:schemeClr>
              </a:solidFill>
            </a:rPr>
            <a:t>Generate character or hexadecimal constant, occupying as many bytes as needed to represent the constant.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b="1" kern="1200" dirty="0"/>
            <a:t>WORD: </a:t>
          </a:r>
          <a:r>
            <a:rPr lang="en-US" sz="2200" kern="1200" dirty="0">
              <a:solidFill>
                <a:schemeClr val="accent1">
                  <a:lumMod val="75000"/>
                </a:schemeClr>
              </a:solidFill>
            </a:rPr>
            <a:t>Generate one-word integer constant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RESB: </a:t>
          </a:r>
          <a:r>
            <a:rPr lang="en-US" sz="2200" kern="1200" dirty="0">
              <a:solidFill>
                <a:schemeClr val="accent1">
                  <a:lumMod val="75000"/>
                </a:schemeClr>
              </a:solidFill>
            </a:rPr>
            <a:t>Reserve the indicated number of bytes for a data area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b="1" kern="1200" dirty="0"/>
            <a:t>RESW: </a:t>
          </a:r>
          <a:r>
            <a:rPr lang="en-US" sz="2200" kern="1200" dirty="0">
              <a:solidFill>
                <a:schemeClr val="accent1">
                  <a:lumMod val="75000"/>
                </a:schemeClr>
              </a:solidFill>
            </a:rPr>
            <a:t>Reserve the indicated number of words for a data area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2200" kern="1200" dirty="0">
            <a:solidFill>
              <a:schemeClr val="accent1">
                <a:lumMod val="75000"/>
              </a:schemeClr>
            </a:solidFill>
          </a:endParaRP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2200" kern="1200" dirty="0">
            <a:solidFill>
              <a:schemeClr val="accent1">
                <a:lumMod val="75000"/>
              </a:schemeClr>
            </a:solidFill>
          </a:endParaRPr>
        </a:p>
      </dsp:txBody>
      <dsp:txXfrm>
        <a:off x="0" y="1043852"/>
        <a:ext cx="6666833" cy="55186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07T20:36:48.85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2849 331 24575,'-426'36'0,"285"-18"0,-152 0 0,-717-20 0,835 9 0,-5-1 0,-290-7 0,468 2 0,0-1 0,-1-1 0,1 1 0,0 0 0,-1 0 0,1-1 0,0 1 0,0-1 0,-1 0 0,1 0 0,0 0 0,0 0 0,0 0 0,0 0 0,0 0 0,0-1 0,0 1 0,0-1 0,1 1 0,-1-1 0,-1-2 0,1 1 0,0-1 0,1 1 0,0 0 0,-1 0 0,1-1 0,0 1 0,1-1 0,-1 1 0,1-1 0,-1 1 0,1-1 0,1-6 0,0 1 0,0 1 0,0-1 0,1 1 0,1-1 0,-1 1 0,1 0 0,1 0 0,-1 0 0,2 1 0,-1-1 0,6-7 0,-7 13 0,-1-1 0,1 1 0,0-1 0,0 1 0,1 0 0,-1 0 0,0 1 0,1-1 0,-1 1 0,1-1 0,-1 1 0,1 0 0,-1 1 0,1-1 0,5 0 0,8 0 0,0 1 0,21 2 0,-1 0 0,-5-1 0,-1-2 0,1-1 0,-1-2 0,56-13 0,-56 9 0,0 1 0,0 2 0,44-1 0,97 6 0,-81 2 0,122-1 0,297-2 0,-317-17 0,29 0 0,-25 6 0,-61 1 0,-38 12 0,25-2 0,-123 1 0,1 0 0,0 0 0,0 0 0,0 0 0,-1 0 0,1 0 0,0 0 0,0 0 0,0 0 0,-1 0 0,1-1 0,0 1 0,0 0 0,-1-1 0,1 1 0,0 0 0,0-1 0,-1 1 0,1-1 0,0 1 0,-1-1 0,1 1 0,-1-1 0,1 0 0,-1 1 0,1-1 0,-1 0 0,1 1 0,-1-1 0,0 0 0,1 1 0,-1-1 0,0 0 0,0 0 0,1 0 0,-1 1 0,0-1 0,0 0 0,0 0 0,0 0 0,0 1 0,0-1 0,0 0 0,0 0 0,-1 0 0,1 1 0,0-1 0,0 0 0,-1 0 0,1 1 0,0-1 0,-1-1 0,-1-1 0,0-1 0,-1 1 0,1-1 0,0 1 0,-1 0 0,0 0 0,0 0 0,0 0 0,-4-2 0,-1-1 0,0 1 0,-1 0 0,0 0 0,0 1 0,0 0 0,0 1 0,-1 0 0,1 1 0,-1 0 0,0 0 0,1 1 0,-1 0 0,-14 1 0,-18 0 0,-299 10 0,-143-6 0,273-6 0,-628 2 0,826 1 0,0 1 0,1 0 0,-22 6 0,-13 2 0,5-4 0,-68 1 0,101-6 0,0 0 0,1 1 0,-1 0 0,0 1 0,1 0 0,-1 0 0,1 1 0,-15 9 0,-21 8 0,3-5 0,18-5 0,-48 13 0,47-21-1365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07T20:36:48.85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2849 331 24575,'-426'36'0,"285"-18"0,-152 0 0,-717-20 0,835 9 0,-5-1 0,-290-7 0,468 2 0,0-1 0,-1-1 0,1 1 0,0 0 0,-1 0 0,1-1 0,0 1 0,0-1 0,-1 0 0,1 0 0,0 0 0,0 0 0,0 0 0,0 0 0,0 0 0,0-1 0,0 1 0,0-1 0,1 1 0,-1-1 0,-1-2 0,1 1 0,0-1 0,1 1 0,0 0 0,-1 0 0,1-1 0,0 1 0,1-1 0,-1 1 0,1-1 0,-1 1 0,1-1 0,1-6 0,0 1 0,0 1 0,0-1 0,1 1 0,1-1 0,-1 1 0,1 0 0,1 0 0,-1 0 0,2 1 0,-1-1 0,6-7 0,-7 13 0,-1-1 0,1 1 0,0-1 0,0 1 0,1 0 0,-1 0 0,0 1 0,1-1 0,-1 1 0,1-1 0,-1 1 0,1 0 0,-1 1 0,1-1 0,5 0 0,8 0 0,0 1 0,21 2 0,-1 0 0,-5-1 0,-1-2 0,1-1 0,-1-2 0,56-13 0,-56 9 0,0 1 0,0 2 0,44-1 0,97 6 0,-81 2 0,122-1 0,297-2 0,-317-17 0,29 0 0,-25 6 0,-61 1 0,-38 12 0,25-2 0,-123 1 0,1 0 0,0 0 0,0 0 0,0 0 0,-1 0 0,1 0 0,0 0 0,0 0 0,0 0 0,-1 0 0,1-1 0,0 1 0,0 0 0,-1-1 0,1 1 0,0 0 0,0-1 0,-1 1 0,1-1 0,0 1 0,-1-1 0,1 1 0,-1-1 0,1 0 0,-1 1 0,1-1 0,-1 0 0,1 1 0,-1-1 0,0 0 0,1 1 0,-1-1 0,0 0 0,0 0 0,1 0 0,-1 1 0,0-1 0,0 0 0,0 0 0,0 0 0,0 1 0,0-1 0,0 0 0,0 0 0,-1 0 0,1 1 0,0-1 0,0 0 0,-1 0 0,1 1 0,0-1 0,-1-1 0,-1-1 0,0-1 0,-1 1 0,1-1 0,0 1 0,-1 0 0,0 0 0,0 0 0,0 0 0,-4-2 0,-1-1 0,0 1 0,-1 0 0,0 0 0,0 1 0,0 0 0,0 1 0,-1 0 0,1 1 0,-1 0 0,0 0 0,1 1 0,-1 0 0,-14 1 0,-18 0 0,-299 10 0,-143-6 0,273-6 0,-628 2 0,826 1 0,0 1 0,1 0 0,-22 6 0,-13 2 0,5-4 0,-68 1 0,101-6 0,0 0 0,1 1 0,-1 0 0,0 1 0,1 0 0,-1 0 0,1 1 0,-15 9 0,-21 8 0,3-5 0,18-5 0,-48 13 0,47-21-1365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9DF86-8BE5-4E55-939A-4CA8B11FCF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521AA2-5BB0-4C4E-9362-E15E125794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FABBF3-9276-48E1-BF53-7D2FD4E47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3F09-E982-45C1-964F-77925596AC3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9C5F4-375C-4955-8DC6-39A21275C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F211B-13B3-416E-9E2F-842240596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A2C71-D873-46F5-A7BE-8457A3538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60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F2C7A-7F49-4E37-AB93-A92B8C895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51D7D3-B31D-4045-AE6A-F094683F29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89028B-D478-41E3-9DDE-EEF433CD6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3F09-E982-45C1-964F-77925596AC3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14CAEA-3F00-4902-8163-FBCB35CA1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F0391-3218-4642-A28D-45628A4E9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A2C71-D873-46F5-A7BE-8457A3538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462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21C7B-8EC2-43A1-88CF-261CF1E3B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07C2B8-315A-4EA8-95B6-665C6C76F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7C6FC4-9A20-4B2F-8947-749AD468D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3F09-E982-45C1-964F-77925596AC3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D6A3B8-6E20-47EB-ACF8-C26A39C12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43DCF5-D810-42B2-8B1A-096B9EF93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A2C71-D873-46F5-A7BE-8457A3538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151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7D6CD-24B6-4BF9-B895-24D9A666E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A1844-9155-440E-8DF3-D284F8B271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8A46E3-FF3A-47A1-99B6-9612847285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4DF9A2-1C36-4BCA-A2A4-1A0872020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3F09-E982-45C1-964F-77925596AC3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2F623C-3EA6-473F-98B3-EAFF22394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591697-378E-46A4-B93E-A647E4CCA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A2C71-D873-46F5-A7BE-8457A3538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03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8B791-C80A-4530-8024-6B3AD2061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3126DD-91AB-40AC-AF28-CE2656C91E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801F98-2D26-4CC6-91F2-519EC84979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64AA12-4E53-4CD5-AE63-69E8D2A29A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F7952E-A7A8-49EF-B069-C5FFAF6240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9F1101-B919-440D-83BD-60B460D2E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3F09-E982-45C1-964F-77925596AC3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DAD026-D9BF-4A89-8F3F-9B5353C85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625996-1530-41F6-8EAB-CE05F7860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A2C71-D873-46F5-A7BE-8457A3538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10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158EB-4D72-4C2D-99AC-D55ACA28E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C3F8C9-3F02-432A-B4D5-278B70CC6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3F09-E982-45C1-964F-77925596AC3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BDCF67-E4E9-4BFC-9968-BD7164973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07F7E0-B3F4-4E6D-8576-F8D47E89F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A2C71-D873-46F5-A7BE-8457A3538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776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C84CC8-ACCA-4EEA-AB56-3AEF2C952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3F09-E982-45C1-964F-77925596AC3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E950FE-C59A-481E-A9E4-FB6ECD992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121CFF-8974-48DF-8EFB-12A5BB382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A2C71-D873-46F5-A7BE-8457A3538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413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0592A-B52D-4A0B-A9EB-5047C7465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BE7D3-1800-4524-B3F4-CF07466984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C41D84-F575-462C-8593-B2826A86AE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9F7C7D-DB09-4726-9C31-C26836514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3F09-E982-45C1-964F-77925596AC3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99D6D9-C349-4211-9234-AD56D5DA0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4BBE0B-FCCC-4D0F-B82E-B83C60087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A2C71-D873-46F5-A7BE-8457A3538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714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C75AF-83A9-41F7-A1A9-1B7F8A0C7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C22B42-C2F2-4C2C-8684-C040B4CD94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0149DA-CA59-47D5-8D34-BBC149D36E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6BFC1A-4AB6-469F-BEF5-C7322822C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3F09-E982-45C1-964F-77925596AC3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FF5A0C-F869-4754-88DD-D73989135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7BE0A7-E937-40D1-88AB-F3E48232B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A2C71-D873-46F5-A7BE-8457A3538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130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53AEF-430A-495B-856B-8DFD41574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CAB936-2C98-47CE-90E0-F748E2BDA2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E49B0-8378-4853-9239-E08038464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3F09-E982-45C1-964F-77925596AC3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E6326D-B69A-4C9A-A689-89A10E159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31B6A8-1DF8-4990-9449-5E3C3EEF8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A2C71-D873-46F5-A7BE-8457A3538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062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CB047E-737D-4624-A740-30D135638E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16690D-B49A-4CD4-99C7-CEEB8D2B85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74BB12-C641-41E3-9B7A-33E3AFF46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3F09-E982-45C1-964F-77925596AC3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8B9F18-0E3E-439B-B096-2E16A3E28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F8E89C-BC4B-43FC-A12A-23FDF87F5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A2C71-D873-46F5-A7BE-8457A3538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125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7CBD01-0B0B-443A-8335-D5A458CE1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FEBB28-D2F9-484E-80D3-757703EFE1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1F4B7-DF04-4607-A541-75EE0B5827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E73F09-E982-45C1-964F-77925596AC3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555EB9-8FAE-4F4B-AED5-8E2F77521C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46C838-B67B-42EA-BA5C-9987844DF1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DA2C71-D873-46F5-A7BE-8457A3538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862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580BC8-5CEA-085A-1903-C3871077E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2567" y="818984"/>
            <a:ext cx="6714699" cy="317868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Section 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91832-72A5-6196-8537-6ECE0A21A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5397" y="4960961"/>
            <a:ext cx="7055893" cy="107805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Systems Programming ECE3502</a:t>
            </a:r>
          </a:p>
        </p:txBody>
      </p:sp>
    </p:spTree>
    <p:extLst>
      <p:ext uri="{BB962C8B-B14F-4D97-AF65-F5344CB8AC3E}">
        <p14:creationId xmlns:p14="http://schemas.microsoft.com/office/powerpoint/2010/main" val="36218499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EBFD678-DA08-47EE-3FB3-69100B83AB9D}"/>
                  </a:ext>
                </a:extLst>
              </p14:cNvPr>
              <p14:cNvContentPartPr/>
              <p14:nvPr/>
            </p14:nvContentPartPr>
            <p14:xfrm>
              <a:off x="7280213" y="1705487"/>
              <a:ext cx="1025640" cy="1490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EBFD678-DA08-47EE-3FB3-69100B83AB9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217213" y="1642487"/>
                <a:ext cx="1151280" cy="274680"/>
              </a:xfrm>
              <a:prstGeom prst="rect">
                <a:avLst/>
              </a:prstGeom>
            </p:spPr>
          </p:pic>
        </mc:Fallback>
      </mc:AlternateContent>
      <p:sp useBgFill="1">
        <p:nvSpPr>
          <p:cNvPr id="2" name="Rectangle 1">
            <a:extLst>
              <a:ext uri="{FF2B5EF4-FFF2-40B4-BE49-F238E27FC236}">
                <a16:creationId xmlns:a16="http://schemas.microsoft.com/office/drawing/2014/main" id="{BD5FB1E8-62DB-D34F-C534-ABC1315DAC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E3E1E86-DF30-27B4-A041-2446618A2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09B4DF7-7DA3-E216-1E10-A9A1A833DD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29EC21F-1710-6BDB-0DA1-B8D5AA8428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B88601B-3C8E-67C4-38E8-078EFD14FF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00A57EB7-FE56-EE05-864D-65A58869D853}"/>
              </a:ext>
            </a:extLst>
          </p:cNvPr>
          <p:cNvSpPr txBox="1">
            <a:spLocks/>
          </p:cNvSpPr>
          <p:nvPr/>
        </p:nvSpPr>
        <p:spPr>
          <a:xfrm>
            <a:off x="478151" y="169479"/>
            <a:ext cx="7314569" cy="10305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b="1" dirty="0">
                <a:solidFill>
                  <a:srgbClr val="FFFFFF"/>
                </a:solidFill>
              </a:rPr>
              <a:t>Translators</a:t>
            </a:r>
            <a:endParaRPr lang="en-US" sz="4000" b="1" dirty="0">
              <a:solidFill>
                <a:srgbClr val="FFFFFF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2C9E88-D42B-559E-D496-399190FCAEDD}"/>
              </a:ext>
            </a:extLst>
          </p:cNvPr>
          <p:cNvSpPr txBox="1"/>
          <p:nvPr/>
        </p:nvSpPr>
        <p:spPr>
          <a:xfrm>
            <a:off x="478151" y="1801620"/>
            <a:ext cx="5632134" cy="4737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Blip>
                <a:blip r:embed="rId4"/>
              </a:buBlip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 translator or programming language processor that converts a computer program from language to another.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</a:t>
            </a:r>
            <a:r>
              <a:rPr lang="en-US" sz="2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convert the programming language into a machine language)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Blip>
                <a:blip r:embed="rId4"/>
              </a:buBlip>
            </a:pP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marR="0" lvl="0" indent="-457200" algn="l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Blip>
                <a:blip r:embed="rId4"/>
              </a:buBlip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It takes a program written in source code and converts into machine code.</a:t>
            </a:r>
          </a:p>
          <a:p>
            <a:pPr marL="342900" marR="0" lvl="0" indent="-342900" algn="l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Blip>
                <a:blip r:embed="rId4"/>
              </a:buBlip>
            </a:pP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marR="0" lvl="0" indent="-457200" algn="l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Blip>
                <a:blip r:embed="rId4"/>
              </a:buBlip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It discovers and identifies the error during translation.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 descr="Diagram, text&#10;&#10;Description automatically generated">
            <a:extLst>
              <a:ext uri="{FF2B5EF4-FFF2-40B4-BE49-F238E27FC236}">
                <a16:creationId xmlns:a16="http://schemas.microsoft.com/office/drawing/2014/main" id="{E9623B7C-F70F-3B1D-BC1A-12548305E28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4151" y="2726997"/>
            <a:ext cx="5193810" cy="2698443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  <p:extLst>
      <p:ext uri="{BB962C8B-B14F-4D97-AF65-F5344CB8AC3E}">
        <p14:creationId xmlns:p14="http://schemas.microsoft.com/office/powerpoint/2010/main" val="2381764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730E59-B49A-B223-7326-1F482F50C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337291B-7FDF-2F45-BB88-60A7AD481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EA99C82-D7DD-E1C7-D01E-0364BF90C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B0FA57C-9739-23AB-FD4F-2882893851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D57E953-7E9B-FA87-1C8D-28DAAA85FA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1C45EEDD-36D9-01AF-645B-48E9F2340A6B}"/>
              </a:ext>
            </a:extLst>
          </p:cNvPr>
          <p:cNvSpPr txBox="1">
            <a:spLocks/>
          </p:cNvSpPr>
          <p:nvPr/>
        </p:nvSpPr>
        <p:spPr>
          <a:xfrm>
            <a:off x="1236388" y="4612968"/>
            <a:ext cx="9477377" cy="10305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>
                <a:solidFill>
                  <a:srgbClr val="FFFFFF"/>
                </a:solidFill>
              </a:rPr>
              <a:t>Translators</a:t>
            </a:r>
            <a:endParaRPr lang="en-US" sz="4000" b="1" dirty="0">
              <a:solidFill>
                <a:srgbClr val="FFFFFF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E41D219-3BA6-8E13-DBFD-4DC8BED6C50C}"/>
              </a:ext>
            </a:extLst>
          </p:cNvPr>
          <p:cNvSpPr/>
          <p:nvPr/>
        </p:nvSpPr>
        <p:spPr>
          <a:xfrm>
            <a:off x="2658834" y="3080970"/>
            <a:ext cx="1653811" cy="764955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1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ar-SA"/>
          </a:p>
        </p:txBody>
      </p:sp>
      <p:sp>
        <p:nvSpPr>
          <p:cNvPr id="16" name="Text Box 5">
            <a:extLst>
              <a:ext uri="{FF2B5EF4-FFF2-40B4-BE49-F238E27FC236}">
                <a16:creationId xmlns:a16="http://schemas.microsoft.com/office/drawing/2014/main" id="{5E8C4045-C2D5-EB34-CABF-9BAE253AE4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0127" y="3200699"/>
            <a:ext cx="1119187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ar-EG" sz="1600" b="1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Assembly Language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2A3F8FF-25B2-E57D-CDF0-F20EFB3896A8}"/>
              </a:ext>
            </a:extLst>
          </p:cNvPr>
          <p:cNvCxnSpPr>
            <a:cxnSpLocks/>
          </p:cNvCxnSpPr>
          <p:nvPr/>
        </p:nvCxnSpPr>
        <p:spPr>
          <a:xfrm>
            <a:off x="4312645" y="3463447"/>
            <a:ext cx="8255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0709598-9DA1-7FE0-E987-32B075587D74}"/>
              </a:ext>
            </a:extLst>
          </p:cNvPr>
          <p:cNvCxnSpPr>
            <a:cxnSpLocks/>
          </p:cNvCxnSpPr>
          <p:nvPr/>
        </p:nvCxnSpPr>
        <p:spPr>
          <a:xfrm>
            <a:off x="6734036" y="3451992"/>
            <a:ext cx="668655" cy="63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Rectangle 12">
            <a:extLst>
              <a:ext uri="{FF2B5EF4-FFF2-40B4-BE49-F238E27FC236}">
                <a16:creationId xmlns:a16="http://schemas.microsoft.com/office/drawing/2014/main" id="{86CB7A4D-7BAF-923A-F0AF-710401828C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169" y="-233272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ar-E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13">
            <a:extLst>
              <a:ext uri="{FF2B5EF4-FFF2-40B4-BE49-F238E27FC236}">
                <a16:creationId xmlns:a16="http://schemas.microsoft.com/office/drawing/2014/main" id="{30FAFE07-9DF8-4BB6-92BB-0A235FA265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595" y="1760687"/>
            <a:ext cx="11281112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ar-EG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ar-EG" sz="2600" b="1" dirty="0">
                <a:solidFill>
                  <a:schemeClr val="accent1">
                    <a:lumMod val="50000"/>
                  </a:schemeClr>
                </a:solidFill>
              </a:rPr>
              <a:t>Assembler:</a:t>
            </a:r>
            <a:r>
              <a:rPr kumimoji="0" lang="en-US" altLang="ar-EG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ar-EG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assembler is used to translate the program written in assembly language into machine level language.</a:t>
            </a:r>
            <a:endParaRPr kumimoji="0" lang="en-US" altLang="ar-EG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1" name="Rectangle 19">
            <a:extLst>
              <a:ext uri="{FF2B5EF4-FFF2-40B4-BE49-F238E27FC236}">
                <a16:creationId xmlns:a16="http://schemas.microsoft.com/office/drawing/2014/main" id="{5A0DAA35-FF8C-66C8-6FD3-43F644A908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595" y="4469608"/>
            <a:ext cx="11281112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ar-EG" sz="2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Compilers: </a:t>
            </a:r>
            <a:r>
              <a:rPr lang="en-US" altLang="ar-EG" sz="2000" dirty="0">
                <a:latin typeface="+mn-lt"/>
              </a:rPr>
              <a:t>the compiler will read the complete source program written in high level language, if the code is error free then it will convert into machine level language.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36F0FCDA-C28D-979E-A6AD-AB051FA7A3E2}"/>
              </a:ext>
            </a:extLst>
          </p:cNvPr>
          <p:cNvSpPr txBox="1">
            <a:spLocks/>
          </p:cNvSpPr>
          <p:nvPr/>
        </p:nvSpPr>
        <p:spPr>
          <a:xfrm>
            <a:off x="530585" y="288402"/>
            <a:ext cx="9477377" cy="10305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FFFFFF"/>
                </a:solidFill>
              </a:rPr>
              <a:t>Types of Translators</a:t>
            </a:r>
            <a:endParaRPr lang="en-US" sz="4000" b="1" dirty="0">
              <a:solidFill>
                <a:srgbClr val="FFFFFF"/>
              </a:solidFill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31D7E9D-0667-27BF-1CD1-ECE275A53853}"/>
              </a:ext>
            </a:extLst>
          </p:cNvPr>
          <p:cNvSpPr/>
          <p:nvPr/>
        </p:nvSpPr>
        <p:spPr>
          <a:xfrm>
            <a:off x="5138145" y="3075522"/>
            <a:ext cx="1653811" cy="764955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1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ar-SA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FA91DFE-FA2C-85A5-8628-E82F15D0200F}"/>
              </a:ext>
            </a:extLst>
          </p:cNvPr>
          <p:cNvSpPr/>
          <p:nvPr/>
        </p:nvSpPr>
        <p:spPr>
          <a:xfrm>
            <a:off x="7414164" y="3057140"/>
            <a:ext cx="1653811" cy="764955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1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ar-SA"/>
          </a:p>
        </p:txBody>
      </p:sp>
      <p:sp>
        <p:nvSpPr>
          <p:cNvPr id="25" name="Text Box 6">
            <a:extLst>
              <a:ext uri="{FF2B5EF4-FFF2-40B4-BE49-F238E27FC236}">
                <a16:creationId xmlns:a16="http://schemas.microsoft.com/office/drawing/2014/main" id="{225019A0-88E2-63D7-3849-461670B0B6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2757" y="3244327"/>
            <a:ext cx="1178454" cy="415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EG" altLang="ar-EG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Assembler</a:t>
            </a:r>
            <a:endParaRPr kumimoji="0" lang="ar-EG" altLang="ar-EG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Text Box 7">
            <a:extLst>
              <a:ext uri="{FF2B5EF4-FFF2-40B4-BE49-F238E27FC236}">
                <a16:creationId xmlns:a16="http://schemas.microsoft.com/office/drawing/2014/main" id="{7BBA8CF6-70C5-F6DF-F5C0-599277BF6D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63529" y="3269278"/>
            <a:ext cx="1539831" cy="349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ar-EG" altLang="ar-EG" sz="1600" b="1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Machine Code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CF63FD6-6241-5E9D-17E4-172ED7564D15}"/>
              </a:ext>
            </a:extLst>
          </p:cNvPr>
          <p:cNvSpPr txBox="1"/>
          <p:nvPr/>
        </p:nvSpPr>
        <p:spPr>
          <a:xfrm>
            <a:off x="465608" y="5422633"/>
            <a:ext cx="1082389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ar-EG" sz="2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Interpreter: </a:t>
            </a:r>
            <a:r>
              <a:rPr lang="en-US" altLang="ar-EG" sz="1800" dirty="0">
                <a:latin typeface="+mn-lt"/>
              </a:rPr>
              <a:t>just like compiler, it convert one at a time and reports errors detect once, while doing conversion (faster than a compiler).</a:t>
            </a:r>
          </a:p>
        </p:txBody>
      </p:sp>
      <p:sp>
        <p:nvSpPr>
          <p:cNvPr id="28" name="Rectangle 19">
            <a:extLst>
              <a:ext uri="{FF2B5EF4-FFF2-40B4-BE49-F238E27FC236}">
                <a16:creationId xmlns:a16="http://schemas.microsoft.com/office/drawing/2014/main" id="{8232D36A-EFA8-04C0-A561-836BFE3E38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9474" y="3923519"/>
            <a:ext cx="165381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ar-EG" b="1" dirty="0">
                <a:latin typeface="+mn-lt"/>
              </a:rPr>
              <a:t>(Source code)</a:t>
            </a:r>
          </a:p>
        </p:txBody>
      </p:sp>
      <p:sp>
        <p:nvSpPr>
          <p:cNvPr id="29" name="Rectangle 19">
            <a:extLst>
              <a:ext uri="{FF2B5EF4-FFF2-40B4-BE49-F238E27FC236}">
                <a16:creationId xmlns:a16="http://schemas.microsoft.com/office/drawing/2014/main" id="{4EA11E78-FB44-626B-5A29-671570A20E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3379" y="3933896"/>
            <a:ext cx="165381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ar-EG" b="1" dirty="0">
                <a:latin typeface="+mn-lt"/>
              </a:rPr>
              <a:t>(Translator)</a:t>
            </a:r>
          </a:p>
        </p:txBody>
      </p:sp>
      <p:sp>
        <p:nvSpPr>
          <p:cNvPr id="30" name="Rectangle 19">
            <a:extLst>
              <a:ext uri="{FF2B5EF4-FFF2-40B4-BE49-F238E27FC236}">
                <a16:creationId xmlns:a16="http://schemas.microsoft.com/office/drawing/2014/main" id="{E690A75E-FBB6-A747-8F61-32C16EA01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6538" y="3910488"/>
            <a:ext cx="165381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ar-EG" b="1" dirty="0">
                <a:latin typeface="+mn-lt"/>
              </a:rPr>
              <a:t>(Object code)</a:t>
            </a:r>
          </a:p>
        </p:txBody>
      </p:sp>
    </p:spTree>
    <p:extLst>
      <p:ext uri="{BB962C8B-B14F-4D97-AF65-F5344CB8AC3E}">
        <p14:creationId xmlns:p14="http://schemas.microsoft.com/office/powerpoint/2010/main" val="3068356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/>
      <p:bldP spid="20" grpId="0"/>
      <p:bldP spid="21" grpId="0"/>
      <p:bldP spid="23" grpId="0" animBg="1"/>
      <p:bldP spid="24" grpId="0" animBg="1"/>
      <p:bldP spid="25" grpId="0"/>
      <p:bldP spid="26" grpId="0"/>
      <p:bldP spid="27" grpId="0"/>
      <p:bldP spid="28" grpId="0"/>
      <p:bldP spid="29" grpId="0"/>
      <p:bldP spid="3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EBFD678-DA08-47EE-3FB3-69100B83AB9D}"/>
                  </a:ext>
                </a:extLst>
              </p14:cNvPr>
              <p14:cNvContentPartPr/>
              <p14:nvPr/>
            </p14:nvContentPartPr>
            <p14:xfrm>
              <a:off x="7280213" y="1705487"/>
              <a:ext cx="1025640" cy="1490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EBFD678-DA08-47EE-3FB3-69100B83AB9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217213" y="1642487"/>
                <a:ext cx="1151280" cy="27468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F837FCCA-3D6C-6F57-5603-1FA0461EADCA}"/>
              </a:ext>
            </a:extLst>
          </p:cNvPr>
          <p:cNvSpPr txBox="1"/>
          <p:nvPr/>
        </p:nvSpPr>
        <p:spPr>
          <a:xfrm>
            <a:off x="385916" y="29932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SIC Machine</a:t>
            </a:r>
            <a:endParaRPr lang="ar-EG" sz="54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583C77-E8FB-0CCE-40DE-26E9B2E9D1A0}"/>
              </a:ext>
            </a:extLst>
          </p:cNvPr>
          <p:cNvSpPr txBox="1"/>
          <p:nvPr/>
        </p:nvSpPr>
        <p:spPr>
          <a:xfrm>
            <a:off x="467360" y="2383946"/>
            <a:ext cx="11338724" cy="2982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Blip>
                <a:blip r:embed="rId4"/>
              </a:buBlip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This machine has been designed to illustrate the most commonly encountered hardware features and concepts.</a:t>
            </a:r>
          </a:p>
          <a:p>
            <a:pPr marR="0" lvl="0" algn="l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marR="0" lvl="0" indent="-457200" algn="l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Blip>
                <a:blip r:embed="rId4"/>
              </a:buBlip>
            </a:pPr>
            <a:r>
              <a:rPr lang="en-US" sz="2800" dirty="0"/>
              <a:t>SIC (Simplified Instruction Computer) comes in two versions: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2400" dirty="0">
                <a:solidFill>
                  <a:srgbClr val="C00000"/>
                </a:solidFill>
              </a:rPr>
              <a:t>	Standard model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2400" dirty="0">
                <a:solidFill>
                  <a:srgbClr val="C00000"/>
                </a:solidFill>
              </a:rPr>
              <a:t>	Extra Expensive/ Extra Equipment/ XE version</a:t>
            </a:r>
            <a:endParaRPr lang="ar-EG" sz="2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740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110071E9-1471-9B65-A19F-DE191B09F0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FD8ADDA-E379-133F-885F-13A16A7D0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DFAC381-3E07-629D-952E-82C7311C44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B81BC7A-F0F4-B9E3-42A7-3BEF45D2F5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D78DE97-C8AF-77B0-CFCF-6C141DE00C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2A4B9D3E-A5AE-4A90-2552-E076F5515C97}"/>
              </a:ext>
            </a:extLst>
          </p:cNvPr>
          <p:cNvSpPr txBox="1">
            <a:spLocks/>
          </p:cNvSpPr>
          <p:nvPr/>
        </p:nvSpPr>
        <p:spPr>
          <a:xfrm>
            <a:off x="385917" y="233929"/>
            <a:ext cx="7213764" cy="10305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dirty="0">
                <a:solidFill>
                  <a:srgbClr val="FFFFFF"/>
                </a:solidFill>
              </a:rPr>
              <a:t>SIC machine architecture</a:t>
            </a:r>
          </a:p>
        </p:txBody>
      </p:sp>
      <p:graphicFrame>
        <p:nvGraphicFramePr>
          <p:cNvPr id="13" name="TextBox 5">
            <a:extLst>
              <a:ext uri="{FF2B5EF4-FFF2-40B4-BE49-F238E27FC236}">
                <a16:creationId xmlns:a16="http://schemas.microsoft.com/office/drawing/2014/main" id="{289E5F74-2BBD-E3F2-3979-DB16004F3E0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82770882"/>
              </p:ext>
            </p:extLst>
          </p:nvPr>
        </p:nvGraphicFramePr>
        <p:xfrm>
          <a:off x="245270" y="2171233"/>
          <a:ext cx="11470640" cy="2308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43576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0FD156-CC0D-8E0B-7CDE-BCCA6C1AFE0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502428" y="568622"/>
            <a:ext cx="7225748" cy="569027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1A50F21-2AE1-3FBD-D8B3-1949474A5423}"/>
              </a:ext>
            </a:extLst>
          </p:cNvPr>
          <p:cNvSpPr txBox="1"/>
          <p:nvPr/>
        </p:nvSpPr>
        <p:spPr>
          <a:xfrm>
            <a:off x="660042" y="3245645"/>
            <a:ext cx="3119120" cy="95410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Registers</a:t>
            </a:r>
          </a:p>
          <a:p>
            <a:r>
              <a:rPr lang="en-US" sz="2400" dirty="0">
                <a:solidFill>
                  <a:schemeClr val="bg1"/>
                </a:solidFill>
              </a:rPr>
              <a:t>There are 5 registers</a:t>
            </a:r>
            <a:endParaRPr lang="ar-EG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4442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A50F21-2AE1-3FBD-D8B3-1949474A5423}"/>
              </a:ext>
            </a:extLst>
          </p:cNvPr>
          <p:cNvSpPr txBox="1"/>
          <p:nvPr/>
        </p:nvSpPr>
        <p:spPr>
          <a:xfrm>
            <a:off x="660042" y="3245645"/>
            <a:ext cx="3119120" cy="95410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Instructions Set</a:t>
            </a:r>
          </a:p>
          <a:p>
            <a:endParaRPr lang="ar-EG" sz="24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8D83B0-4E91-5AA8-B988-84AC156AAB0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419233" y="686106"/>
            <a:ext cx="7464053" cy="5785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0951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A50F21-2AE1-3FBD-D8B3-1949474A5423}"/>
              </a:ext>
            </a:extLst>
          </p:cNvPr>
          <p:cNvSpPr txBox="1"/>
          <p:nvPr/>
        </p:nvSpPr>
        <p:spPr>
          <a:xfrm>
            <a:off x="308714" y="2602282"/>
            <a:ext cx="3470448" cy="34778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A stands for Accumulator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M stands for Memory 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CC stands for Condition Code 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PC stands for Program Counter 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RMB stands for Right Most Byte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L stands for Linkage Register </a:t>
            </a:r>
            <a:endParaRPr lang="ar-EG" sz="16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3710BD-CCC1-12A1-FA72-A95C011C384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357960"/>
              </a:clrFrom>
              <a:clrTo>
                <a:srgbClr val="357960">
                  <a:alpha val="0"/>
                </a:srgbClr>
              </a:clrTo>
            </a:clrChange>
          </a:blip>
          <a:srcRect l="545"/>
          <a:stretch/>
        </p:blipFill>
        <p:spPr>
          <a:xfrm>
            <a:off x="4806978" y="121784"/>
            <a:ext cx="6483096" cy="40421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ACEDC56-13B1-25AD-1F85-CC34FF7972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4840" y="4064632"/>
            <a:ext cx="6428232" cy="2323239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F7B1CF29-5E73-60C7-C1A8-4B06D5580B3D}"/>
              </a:ext>
            </a:extLst>
          </p:cNvPr>
          <p:cNvSpPr txBox="1">
            <a:spLocks/>
          </p:cNvSpPr>
          <p:nvPr/>
        </p:nvSpPr>
        <p:spPr>
          <a:xfrm>
            <a:off x="455066" y="815733"/>
            <a:ext cx="3324096" cy="14941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800" dirty="0">
                <a:solidFill>
                  <a:srgbClr val="FFFFFF"/>
                </a:solidFill>
              </a:rPr>
              <a:t>Instruction Set Sheet</a:t>
            </a:r>
          </a:p>
        </p:txBody>
      </p:sp>
    </p:spTree>
    <p:extLst>
      <p:ext uri="{BB962C8B-B14F-4D97-AF65-F5344CB8AC3E}">
        <p14:creationId xmlns:p14="http://schemas.microsoft.com/office/powerpoint/2010/main" val="23703490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EDF36F-D1DA-4897-8ED6-04B5121CBE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5066" y="806824"/>
            <a:ext cx="3324096" cy="1494117"/>
          </a:xfrm>
        </p:spPr>
        <p:txBody>
          <a:bodyPr anchor="b">
            <a:normAutofit/>
          </a:bodyPr>
          <a:lstStyle/>
          <a:p>
            <a:pPr algn="l"/>
            <a:r>
              <a:rPr lang="en-US" sz="28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Instruction Set Sheet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A50F21-2AE1-3FBD-D8B3-1949474A5423}"/>
              </a:ext>
            </a:extLst>
          </p:cNvPr>
          <p:cNvSpPr txBox="1"/>
          <p:nvPr/>
        </p:nvSpPr>
        <p:spPr>
          <a:xfrm>
            <a:off x="308714" y="2602282"/>
            <a:ext cx="3470448" cy="34778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A stands for Accumulator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M stands for Memory 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CC stands for Condition Code 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PC stands for Program Counter 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RMB stands for Right Most Byte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L stands for Linkage Register </a:t>
            </a:r>
            <a:endParaRPr lang="ar-EG" sz="1600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D699ED-98AD-6437-3BEB-CB3BA748B5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4045" y="57430"/>
            <a:ext cx="5968234" cy="6791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6234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7942905-DC1B-D1B6-9E8E-1EB3BEC37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7279E3-A08C-49E3-CA7A-1FD0C0F332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2E0FE36-41C7-79F1-24B4-A77CF8E1C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B45BA7-C533-0043-A4B5-7906FE605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FA21AA6-F0EB-D1F4-DA78-3D82289E05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4E5E63C-F428-0815-616E-C56595D34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3C64531B-DB31-4B01-4D15-21CE2D2BF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Assembler Directives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962AA048-CC47-57A1-4A34-76596731E7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3807460"/>
              </p:ext>
            </p:extLst>
          </p:nvPr>
        </p:nvGraphicFramePr>
        <p:xfrm>
          <a:off x="4781490" y="511388"/>
          <a:ext cx="6666833" cy="65749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863322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A50F21-2AE1-3FBD-D8B3-1949474A5423}"/>
              </a:ext>
            </a:extLst>
          </p:cNvPr>
          <p:cNvSpPr txBox="1"/>
          <p:nvPr/>
        </p:nvSpPr>
        <p:spPr>
          <a:xfrm>
            <a:off x="539855" y="2782203"/>
            <a:ext cx="3119120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Trace the following assembly code for SIC</a:t>
            </a:r>
            <a:endParaRPr lang="ar-EG" sz="24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C5D80B-5C73-2377-8A2A-7978F0420AF1}"/>
              </a:ext>
            </a:extLst>
          </p:cNvPr>
          <p:cNvSpPr txBox="1"/>
          <p:nvPr/>
        </p:nvSpPr>
        <p:spPr>
          <a:xfrm>
            <a:off x="4870988" y="1226234"/>
            <a:ext cx="5929092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4"/>
            <a:r>
              <a:rPr lang="en-US" sz="2800" dirty="0"/>
              <a:t>  LDA		BETA</a:t>
            </a:r>
          </a:p>
          <a:p>
            <a:pPr lvl="4"/>
            <a:r>
              <a:rPr lang="en-US" sz="2800" dirty="0"/>
              <a:t>  DIV 		GAMMA</a:t>
            </a:r>
          </a:p>
          <a:p>
            <a:pPr lvl="4"/>
            <a:r>
              <a:rPr lang="en-US" sz="2800" dirty="0"/>
              <a:t>  STA 		ALPHA</a:t>
            </a:r>
          </a:p>
          <a:p>
            <a:pPr lvl="4"/>
            <a:r>
              <a:rPr lang="en-US" sz="2800" dirty="0"/>
              <a:t>  :</a:t>
            </a:r>
          </a:p>
          <a:p>
            <a:pPr lvl="4"/>
            <a:r>
              <a:rPr lang="en-US" sz="2800" dirty="0"/>
              <a:t>  :</a:t>
            </a:r>
          </a:p>
          <a:p>
            <a:r>
              <a:rPr lang="en-US" sz="2800" dirty="0"/>
              <a:t>ALPHA 	  RESW 	1</a:t>
            </a:r>
          </a:p>
          <a:p>
            <a:r>
              <a:rPr lang="en-US" sz="2800" dirty="0"/>
              <a:t>BETA 		  WORD 	10</a:t>
            </a:r>
          </a:p>
          <a:p>
            <a:r>
              <a:rPr lang="en-US" sz="2800" dirty="0"/>
              <a:t>GAMMA 	  WORD 	2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31FAF7-6D8D-7BF6-43F3-C1F32F7B4DAF}"/>
              </a:ext>
            </a:extLst>
          </p:cNvPr>
          <p:cNvSpPr txBox="1"/>
          <p:nvPr/>
        </p:nvSpPr>
        <p:spPr>
          <a:xfrm>
            <a:off x="4531360" y="478712"/>
            <a:ext cx="318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/>
              <a:t>Program 1:</a:t>
            </a: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41813319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0C1644-8889-F77A-49E8-2307B8E88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2E32FA11-3AB0-769B-F95C-7FA054CF81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025D769-AEC2-47EE-BCD3-EC3C5E9DBF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8B6A572-A1ED-5051-2C13-E8BF8725BC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EB25786-4E44-AAE9-8893-460C9638E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310FE562-AEA2-F40B-F928-2E356883EE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53D6AE-4734-AB71-3634-1413ED0B34C6}"/>
              </a:ext>
            </a:extLst>
          </p:cNvPr>
          <p:cNvSpPr txBox="1"/>
          <p:nvPr/>
        </p:nvSpPr>
        <p:spPr>
          <a:xfrm>
            <a:off x="539855" y="2782203"/>
            <a:ext cx="3119120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Trace the following assembly code for SIC</a:t>
            </a:r>
            <a:endParaRPr lang="ar-EG" sz="24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CA0B73-1DA2-8A82-0D1E-DB573E2C7B7A}"/>
              </a:ext>
            </a:extLst>
          </p:cNvPr>
          <p:cNvSpPr txBox="1"/>
          <p:nvPr/>
        </p:nvSpPr>
        <p:spPr>
          <a:xfrm>
            <a:off x="4870988" y="1226234"/>
            <a:ext cx="5929092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4"/>
            <a:r>
              <a:rPr lang="en-US" sz="2800" dirty="0"/>
              <a:t>  LDA		FIVE</a:t>
            </a:r>
          </a:p>
          <a:p>
            <a:pPr lvl="4"/>
            <a:r>
              <a:rPr lang="en-US" sz="2800" dirty="0"/>
              <a:t>  STA 		ALPHA</a:t>
            </a:r>
          </a:p>
          <a:p>
            <a:pPr lvl="4"/>
            <a:r>
              <a:rPr lang="en-US" sz="2800" dirty="0"/>
              <a:t>  LDCH	CHARZ</a:t>
            </a:r>
          </a:p>
          <a:p>
            <a:pPr lvl="4"/>
            <a:r>
              <a:rPr lang="en-US" sz="2800" dirty="0"/>
              <a:t>  STCH		C1</a:t>
            </a:r>
          </a:p>
          <a:p>
            <a:pPr lvl="4"/>
            <a:r>
              <a:rPr lang="en-US" sz="2800" dirty="0"/>
              <a:t>  :</a:t>
            </a:r>
          </a:p>
          <a:p>
            <a:pPr lvl="4"/>
            <a:r>
              <a:rPr lang="en-US" sz="2800" dirty="0"/>
              <a:t>  :</a:t>
            </a:r>
          </a:p>
          <a:p>
            <a:r>
              <a:rPr lang="en-US" sz="2800" dirty="0"/>
              <a:t>ALPHA 	  RESW 	1</a:t>
            </a:r>
          </a:p>
          <a:p>
            <a:r>
              <a:rPr lang="en-US" sz="2800" dirty="0"/>
              <a:t>FIVE 		  WORD 	5</a:t>
            </a:r>
          </a:p>
          <a:p>
            <a:r>
              <a:rPr lang="en-US" sz="2800" dirty="0"/>
              <a:t>CHARZ 	  BYTE 	C’5’</a:t>
            </a:r>
          </a:p>
          <a:p>
            <a:r>
              <a:rPr lang="en-US" sz="2800" dirty="0"/>
              <a:t>C1		  RESB		1 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56B3EB-D28E-0314-C2E2-98D5BC6EE4DD}"/>
              </a:ext>
            </a:extLst>
          </p:cNvPr>
          <p:cNvSpPr txBox="1"/>
          <p:nvPr/>
        </p:nvSpPr>
        <p:spPr>
          <a:xfrm>
            <a:off x="4531360" y="478712"/>
            <a:ext cx="318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/>
              <a:t>Program 2:</a:t>
            </a: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40213880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D35EBE-8094-1B6B-32C5-CBC0D1AD6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A52DCF9E-4868-B6F6-BAF1-66804A1ED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63ADE59-EC8B-74E5-2B40-BDB0566496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1300A0C-D95C-FA43-2893-0F054E9A3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82007ED-3370-8A8F-9C0D-92E764B4EB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169900E3-1470-E60A-73ED-1D75549986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4B68D9-FAC0-8249-A97B-F43AD273AF35}"/>
              </a:ext>
            </a:extLst>
          </p:cNvPr>
          <p:cNvSpPr txBox="1"/>
          <p:nvPr/>
        </p:nvSpPr>
        <p:spPr>
          <a:xfrm>
            <a:off x="539855" y="2782203"/>
            <a:ext cx="3119120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Trace the following assembly code for SIC</a:t>
            </a:r>
            <a:endParaRPr lang="ar-EG" sz="24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FDF1D9-3EA1-E75B-3555-D17F9D4B6A19}"/>
              </a:ext>
            </a:extLst>
          </p:cNvPr>
          <p:cNvSpPr txBox="1"/>
          <p:nvPr/>
        </p:nvSpPr>
        <p:spPr>
          <a:xfrm>
            <a:off x="4531360" y="1226234"/>
            <a:ext cx="626872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4"/>
            <a:r>
              <a:rPr lang="en-US" sz="2800" dirty="0"/>
              <a:t>  LDX		ZERO</a:t>
            </a:r>
          </a:p>
          <a:p>
            <a:r>
              <a:rPr lang="en-US" sz="2800" dirty="0"/>
              <a:t>MOVECH	  LDCH	STR1,X</a:t>
            </a:r>
          </a:p>
          <a:p>
            <a:pPr lvl="4"/>
            <a:r>
              <a:rPr lang="en-US" sz="2800" dirty="0"/>
              <a:t>  STCH		STR2,X</a:t>
            </a:r>
          </a:p>
          <a:p>
            <a:pPr lvl="4"/>
            <a:r>
              <a:rPr lang="en-US" sz="2800" dirty="0"/>
              <a:t>  TIX		ELEVEN</a:t>
            </a:r>
          </a:p>
          <a:p>
            <a:pPr lvl="4"/>
            <a:r>
              <a:rPr lang="en-US" sz="2800" dirty="0"/>
              <a:t>  JLT		MOVECH</a:t>
            </a:r>
          </a:p>
          <a:p>
            <a:pPr lvl="4"/>
            <a:r>
              <a:rPr lang="en-US" sz="2800" dirty="0"/>
              <a:t>  :</a:t>
            </a:r>
          </a:p>
          <a:p>
            <a:pPr lvl="4"/>
            <a:r>
              <a:rPr lang="en-US" sz="2800" dirty="0"/>
              <a:t>  :</a:t>
            </a:r>
          </a:p>
          <a:p>
            <a:r>
              <a:rPr lang="en-US" sz="2800" dirty="0"/>
              <a:t>STR1 		  BYTE 	C’TEST STRING’</a:t>
            </a:r>
          </a:p>
          <a:p>
            <a:r>
              <a:rPr lang="en-US" sz="2800" dirty="0"/>
              <a:t>STR2		  RESB		11</a:t>
            </a:r>
          </a:p>
          <a:p>
            <a:r>
              <a:rPr lang="en-US" sz="2800" dirty="0"/>
              <a:t>ZERO 		  WORD 	0</a:t>
            </a:r>
          </a:p>
          <a:p>
            <a:r>
              <a:rPr lang="en-US" sz="2800" dirty="0"/>
              <a:t>ELEVEN	  WORD 	11 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D309A2-3258-8147-6DEF-DB1ED08082CF}"/>
              </a:ext>
            </a:extLst>
          </p:cNvPr>
          <p:cNvSpPr txBox="1"/>
          <p:nvPr/>
        </p:nvSpPr>
        <p:spPr>
          <a:xfrm>
            <a:off x="4531360" y="478712"/>
            <a:ext cx="318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/>
              <a:t>Program 3:</a:t>
            </a: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35609430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07CFB5-62DA-CF05-176D-AE4A7CC9F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B0136ED7-BE23-48B6-3724-A6A64C0E4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3FA38EE-E751-0EC6-3BB4-35BB781827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31DF8E3-F384-C752-349F-0FA427F11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9470CF7-741C-507A-BCFC-BA987F87C1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CF1F572B-959B-D2E4-263B-054A60CD9D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0D87A7-4EE9-F8C2-AAF6-614B5C07BFC5}"/>
              </a:ext>
            </a:extLst>
          </p:cNvPr>
          <p:cNvSpPr txBox="1"/>
          <p:nvPr/>
        </p:nvSpPr>
        <p:spPr>
          <a:xfrm>
            <a:off x="539855" y="2782203"/>
            <a:ext cx="3119120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Trace the following assembly code for SIC</a:t>
            </a:r>
            <a:endParaRPr lang="ar-EG" sz="24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36D3AA-595A-1F37-38A2-C88B21742946}"/>
              </a:ext>
            </a:extLst>
          </p:cNvPr>
          <p:cNvSpPr txBox="1"/>
          <p:nvPr/>
        </p:nvSpPr>
        <p:spPr>
          <a:xfrm>
            <a:off x="4531360" y="612378"/>
            <a:ext cx="626872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4"/>
            <a:r>
              <a:rPr lang="en-US" sz="2400" dirty="0"/>
              <a:t>  LDA		ALPHA</a:t>
            </a:r>
          </a:p>
          <a:p>
            <a:r>
              <a:rPr lang="en-US" sz="2400" dirty="0"/>
              <a:t>		  ADD		INCR</a:t>
            </a:r>
          </a:p>
          <a:p>
            <a:pPr lvl="4"/>
            <a:r>
              <a:rPr lang="en-US" sz="2400" dirty="0"/>
              <a:t>  SUB		ONE</a:t>
            </a:r>
          </a:p>
          <a:p>
            <a:pPr lvl="4"/>
            <a:r>
              <a:rPr lang="en-US" sz="2400" dirty="0"/>
              <a:t>  STA		BETA</a:t>
            </a:r>
          </a:p>
          <a:p>
            <a:pPr lvl="4"/>
            <a:r>
              <a:rPr lang="en-US" sz="2400" dirty="0"/>
              <a:t>  LDA		GAMMA</a:t>
            </a:r>
          </a:p>
          <a:p>
            <a:pPr lvl="4"/>
            <a:r>
              <a:rPr lang="en-US" sz="2400" dirty="0"/>
              <a:t>  ADD		INCR</a:t>
            </a:r>
          </a:p>
          <a:p>
            <a:pPr lvl="4"/>
            <a:r>
              <a:rPr lang="en-US" sz="2400" dirty="0"/>
              <a:t>  SUB		ONE</a:t>
            </a:r>
          </a:p>
          <a:p>
            <a:pPr lvl="4"/>
            <a:r>
              <a:rPr lang="en-US" sz="2400" dirty="0"/>
              <a:t>  STA 		DELTA</a:t>
            </a:r>
          </a:p>
          <a:p>
            <a:pPr lvl="4"/>
            <a:r>
              <a:rPr lang="en-US" sz="2400" dirty="0"/>
              <a:t>  :</a:t>
            </a:r>
          </a:p>
          <a:p>
            <a:pPr lvl="4"/>
            <a:r>
              <a:rPr lang="en-US" sz="2400" dirty="0"/>
              <a:t>  :</a:t>
            </a:r>
          </a:p>
          <a:p>
            <a:r>
              <a:rPr lang="en-US" sz="2400" dirty="0"/>
              <a:t>ONE 		 WORD 	1</a:t>
            </a:r>
          </a:p>
          <a:p>
            <a:r>
              <a:rPr lang="en-US" sz="2400" dirty="0"/>
              <a:t>ALPHA		 WORD		10</a:t>
            </a:r>
          </a:p>
          <a:p>
            <a:r>
              <a:rPr lang="en-US" sz="2400" dirty="0"/>
              <a:t>INCR 		 WORD 	2</a:t>
            </a:r>
          </a:p>
          <a:p>
            <a:r>
              <a:rPr lang="en-US" sz="2400" dirty="0"/>
              <a:t>BETA		 RESW	 	1   </a:t>
            </a:r>
          </a:p>
          <a:p>
            <a:r>
              <a:rPr lang="en-US" sz="2400" dirty="0"/>
              <a:t>GAMMA	 WORD		15</a:t>
            </a:r>
          </a:p>
          <a:p>
            <a:r>
              <a:rPr lang="en-US" sz="2400" dirty="0"/>
              <a:t>DELTA		 RESW		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9F0F7D-6A54-FBCC-90B5-D7F7D282A917}"/>
              </a:ext>
            </a:extLst>
          </p:cNvPr>
          <p:cNvSpPr txBox="1"/>
          <p:nvPr/>
        </p:nvSpPr>
        <p:spPr>
          <a:xfrm>
            <a:off x="4531360" y="203231"/>
            <a:ext cx="318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/>
              <a:t>Program 4:</a:t>
            </a: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10133296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A02F13-B093-B997-5A0B-703E22505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5606D767-EF37-A496-B91B-403F29965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39C970F-4A83-34FD-FF4F-75248136C0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453B993-BA74-0A57-55BD-0D5EE4DD7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C52D479-9891-E33A-40E2-3DCDCD0F8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896CEB08-DBC5-6099-F455-553ECFCB0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B35E44-C88E-F9B2-CCB2-FD8E997188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8714" y="845422"/>
            <a:ext cx="3581402" cy="1494117"/>
          </a:xfrm>
        </p:spPr>
        <p:txBody>
          <a:bodyPr anchor="b">
            <a:normAutofit/>
          </a:bodyPr>
          <a:lstStyle/>
          <a:p>
            <a:pPr algn="l"/>
            <a:r>
              <a:rPr lang="en-US" sz="2000" dirty="0">
                <a:solidFill>
                  <a:srgbClr val="FFFFFF"/>
                </a:solidFill>
              </a:rPr>
              <a:t>Sheet  1</a:t>
            </a:r>
          </a:p>
          <a:p>
            <a:pPr algn="l"/>
            <a:r>
              <a:rPr lang="en-US" sz="2000" dirty="0">
                <a:solidFill>
                  <a:srgbClr val="FFFFFF"/>
                </a:solidFill>
              </a:rPr>
              <a:t>Question 4</a:t>
            </a:r>
            <a:endParaRPr lang="en-US" sz="200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4DA9EC-531C-DC21-9278-B9AA4C0B702D}"/>
              </a:ext>
            </a:extLst>
          </p:cNvPr>
          <p:cNvSpPr txBox="1"/>
          <p:nvPr/>
        </p:nvSpPr>
        <p:spPr>
          <a:xfrm>
            <a:off x="539855" y="2782203"/>
            <a:ext cx="3119120" cy="193899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Write a sequence of instructions for SIC to set ALPHA equal to the integer portion of BETA ÷ GAMMA. </a:t>
            </a:r>
            <a:endParaRPr lang="ar-EG" sz="2400" dirty="0">
              <a:solidFill>
                <a:schemeClr val="bg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C1CFEC6-E2A0-325F-A7C8-72F908A0DE50}"/>
              </a:ext>
            </a:extLst>
          </p:cNvPr>
          <p:cNvGrpSpPr/>
          <p:nvPr/>
        </p:nvGrpSpPr>
        <p:grpSpPr>
          <a:xfrm>
            <a:off x="5220957" y="1179094"/>
            <a:ext cx="5329641" cy="4412003"/>
            <a:chOff x="5220957" y="1179094"/>
            <a:chExt cx="5329641" cy="441200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7ADF552-DD1B-0523-E1FC-EDDE623573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10521" b="33119"/>
            <a:stretch>
              <a:fillRect/>
            </a:stretch>
          </p:blipFill>
          <p:spPr>
            <a:xfrm>
              <a:off x="6096000" y="1179094"/>
              <a:ext cx="4454598" cy="3211673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4E169EC-0579-A9AC-AB72-FF2D5AB751D3}"/>
                </a:ext>
              </a:extLst>
            </p:cNvPr>
            <p:cNvSpPr txBox="1"/>
            <p:nvPr/>
          </p:nvSpPr>
          <p:spPr>
            <a:xfrm>
              <a:off x="5220957" y="4390768"/>
              <a:ext cx="491300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FF0000"/>
                  </a:solidFill>
                </a:rPr>
                <a:t>ALPHA	         RESW 	1</a:t>
              </a:r>
            </a:p>
            <a:p>
              <a:r>
                <a:rPr lang="en-US" sz="2400" b="1" dirty="0">
                  <a:solidFill>
                    <a:srgbClr val="FF0000"/>
                  </a:solidFill>
                </a:rPr>
                <a:t>BETA 	         WORD	8</a:t>
              </a:r>
            </a:p>
            <a:p>
              <a:r>
                <a:rPr lang="en-US" sz="2400" b="1" dirty="0">
                  <a:solidFill>
                    <a:srgbClr val="FF0000"/>
                  </a:solidFill>
                </a:rPr>
                <a:t>GAMMA      WORD 	4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539125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EDF36F-D1DA-4897-8ED6-04B5121CBE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8714" y="845422"/>
            <a:ext cx="3581402" cy="1494117"/>
          </a:xfrm>
        </p:spPr>
        <p:txBody>
          <a:bodyPr anchor="b">
            <a:normAutofit/>
          </a:bodyPr>
          <a:lstStyle/>
          <a:p>
            <a:pPr algn="l"/>
            <a:r>
              <a:rPr lang="en-US" sz="2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Sheet  1</a:t>
            </a:r>
          </a:p>
          <a:p>
            <a:pPr algn="l"/>
            <a:r>
              <a:rPr lang="en-US" sz="2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Question 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A50F21-2AE1-3FBD-D8B3-1949474A5423}"/>
              </a:ext>
            </a:extLst>
          </p:cNvPr>
          <p:cNvSpPr txBox="1"/>
          <p:nvPr/>
        </p:nvSpPr>
        <p:spPr>
          <a:xfrm>
            <a:off x="688344" y="3176566"/>
            <a:ext cx="3119120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Write SIC instructions to swap the values of ALPHA and BETA</a:t>
            </a:r>
            <a:endParaRPr lang="ar-EG" sz="2400" dirty="0">
              <a:solidFill>
                <a:schemeClr val="bg1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43D951A-1DA5-0B61-D135-9CBEE9F1DDA1}"/>
              </a:ext>
            </a:extLst>
          </p:cNvPr>
          <p:cNvGrpSpPr/>
          <p:nvPr/>
        </p:nvGrpSpPr>
        <p:grpSpPr>
          <a:xfrm>
            <a:off x="4974086" y="988539"/>
            <a:ext cx="5304084" cy="4382080"/>
            <a:chOff x="4974086" y="988539"/>
            <a:chExt cx="5304084" cy="438208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C0BAEA2-610F-7970-CC4F-3657D1BF53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12658"/>
            <a:stretch>
              <a:fillRect/>
            </a:stretch>
          </p:blipFill>
          <p:spPr>
            <a:xfrm>
              <a:off x="5952432" y="988539"/>
              <a:ext cx="4325738" cy="3527027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DED3DC63-019E-5223-0DBF-529B9E747D47}"/>
                </a:ext>
              </a:extLst>
            </p:cNvPr>
            <p:cNvSpPr txBox="1"/>
            <p:nvPr/>
          </p:nvSpPr>
          <p:spPr>
            <a:xfrm>
              <a:off x="4974086" y="4170290"/>
              <a:ext cx="491300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FF0000"/>
                  </a:solidFill>
                </a:rPr>
                <a:t>ALPHA     WORD	8</a:t>
              </a:r>
            </a:p>
            <a:p>
              <a:r>
                <a:rPr lang="en-US" sz="2400" b="1" dirty="0">
                  <a:solidFill>
                    <a:srgbClr val="FF0000"/>
                  </a:solidFill>
                </a:rPr>
                <a:t>BETA 	    WORD	2</a:t>
              </a:r>
            </a:p>
            <a:p>
              <a:r>
                <a:rPr lang="en-US" sz="2400" b="1" dirty="0">
                  <a:solidFill>
                    <a:srgbClr val="FF0000"/>
                  </a:solidFill>
                </a:rPr>
                <a:t>TEMP	    RESW	1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778850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EDF36F-D1DA-4897-8ED6-04B5121CBE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8714" y="845422"/>
            <a:ext cx="3581402" cy="1494117"/>
          </a:xfrm>
        </p:spPr>
        <p:txBody>
          <a:bodyPr anchor="b">
            <a:normAutofit/>
          </a:bodyPr>
          <a:lstStyle/>
          <a:p>
            <a:pPr algn="l"/>
            <a:r>
              <a:rPr lang="en-US" sz="2000" dirty="0">
                <a:solidFill>
                  <a:srgbClr val="FFFFFF"/>
                </a:solidFill>
              </a:rPr>
              <a:t>Sheet  1</a:t>
            </a:r>
          </a:p>
          <a:p>
            <a:pPr algn="l"/>
            <a:r>
              <a:rPr lang="en-US" sz="2000" dirty="0">
                <a:solidFill>
                  <a:srgbClr val="FFFFFF"/>
                </a:solidFill>
              </a:rPr>
              <a:t>Question 7</a:t>
            </a:r>
            <a:endParaRPr lang="en-US" sz="200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A50F21-2AE1-3FBD-D8B3-1949474A5423}"/>
              </a:ext>
            </a:extLst>
          </p:cNvPr>
          <p:cNvSpPr txBox="1"/>
          <p:nvPr/>
        </p:nvSpPr>
        <p:spPr>
          <a:xfrm>
            <a:off x="152400" y="2649423"/>
            <a:ext cx="3886204" cy="15696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Write a sequence of instructions to set ALPHA equal to 4 * BETA – 9. Assume that BETA is equal to 10</a:t>
            </a:r>
            <a:endParaRPr lang="ar-EG" sz="24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8C489D-75EB-8A4E-6A56-CF19C66CF283}"/>
              </a:ext>
            </a:extLst>
          </p:cNvPr>
          <p:cNvSpPr txBox="1"/>
          <p:nvPr/>
        </p:nvSpPr>
        <p:spPr>
          <a:xfrm>
            <a:off x="5377740" y="1254096"/>
            <a:ext cx="491300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 	      LDA       BETA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        	      MUL      FOUR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        	      SUB       NINE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        	      STA        ALPHA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ALPHA       RESW       1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BETA          WORD      10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FOUR         WORD      4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NINE          WORD      9</a:t>
            </a:r>
          </a:p>
        </p:txBody>
      </p:sp>
    </p:spTree>
    <p:extLst>
      <p:ext uri="{BB962C8B-B14F-4D97-AF65-F5344CB8AC3E}">
        <p14:creationId xmlns:p14="http://schemas.microsoft.com/office/powerpoint/2010/main" val="5399148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EDF36F-D1DA-4897-8ED6-04B5121CBE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8714" y="845422"/>
            <a:ext cx="3581402" cy="1494117"/>
          </a:xfrm>
        </p:spPr>
        <p:txBody>
          <a:bodyPr anchor="b">
            <a:normAutofit/>
          </a:bodyPr>
          <a:lstStyle/>
          <a:p>
            <a:pPr algn="l"/>
            <a:r>
              <a:rPr lang="en-US" sz="2000" dirty="0">
                <a:solidFill>
                  <a:srgbClr val="FFFFFF"/>
                </a:solidFill>
              </a:rPr>
              <a:t>Sheet  1</a:t>
            </a:r>
          </a:p>
          <a:p>
            <a:pPr algn="l"/>
            <a:r>
              <a:rPr lang="en-US" sz="2000" dirty="0">
                <a:solidFill>
                  <a:srgbClr val="FFFFFF"/>
                </a:solidFill>
              </a:rPr>
              <a:t>Question </a:t>
            </a:r>
            <a:r>
              <a:rPr lang="en-US" sz="2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A50F21-2AE1-3FBD-D8B3-1949474A5423}"/>
              </a:ext>
            </a:extLst>
          </p:cNvPr>
          <p:cNvSpPr txBox="1"/>
          <p:nvPr/>
        </p:nvSpPr>
        <p:spPr>
          <a:xfrm>
            <a:off x="539855" y="2818251"/>
            <a:ext cx="3119120" cy="267765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Suppose that ALPHA is an array of 100 characters. Write a sequence of instructions for SIC to set all 100 elements of the array to letter “N”.</a:t>
            </a:r>
            <a:endParaRPr lang="ar-EG" sz="24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45A9C5-2186-49C7-5B5C-4232A8EFBC9C}"/>
              </a:ext>
            </a:extLst>
          </p:cNvPr>
          <p:cNvSpPr txBox="1"/>
          <p:nvPr/>
        </p:nvSpPr>
        <p:spPr>
          <a:xfrm>
            <a:off x="4347318" y="1537485"/>
            <a:ext cx="421114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 	        LDCH          NCHAR     	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 	        LDX          ZERO       	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LOOP              STCH       ALPHA,X   	 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	        TIX           HUNDRED    	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        	        JLT            LOOP       	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	        :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	        :</a:t>
            </a:r>
          </a:p>
          <a:p>
            <a:endParaRPr lang="en-US" sz="2000" b="1" dirty="0">
              <a:solidFill>
                <a:srgbClr val="FF0000"/>
              </a:solidFill>
            </a:endParaRPr>
          </a:p>
          <a:p>
            <a:r>
              <a:rPr lang="en-US" sz="2000" b="1" dirty="0">
                <a:solidFill>
                  <a:srgbClr val="FF0000"/>
                </a:solidFill>
              </a:rPr>
              <a:t>ALPHA            RESB       100       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NCHAR           BYTE       C'N'       	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ZERO     	        WORD    0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HUNDRED     WORD    100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03A443-CACA-5A68-3E81-3865EC716992}"/>
              </a:ext>
            </a:extLst>
          </p:cNvPr>
          <p:cNvSpPr txBox="1"/>
          <p:nvPr/>
        </p:nvSpPr>
        <p:spPr>
          <a:xfrm>
            <a:off x="8303090" y="1506707"/>
            <a:ext cx="4478349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; Load ASCII value of ‘N’</a:t>
            </a:r>
          </a:p>
          <a:p>
            <a:r>
              <a:rPr lang="en-US" sz="2000" b="1" dirty="0">
                <a:solidFill>
                  <a:schemeClr val="accent1"/>
                </a:solidFill>
              </a:rPr>
              <a:t>; X = 0</a:t>
            </a:r>
          </a:p>
          <a:p>
            <a:r>
              <a:rPr lang="en-US" sz="2000" b="1" dirty="0">
                <a:solidFill>
                  <a:schemeClr val="accent1"/>
                </a:solidFill>
              </a:rPr>
              <a:t>; Store one character at ALPHA + X</a:t>
            </a:r>
          </a:p>
          <a:p>
            <a:r>
              <a:rPr lang="en-US" sz="2000" b="1" dirty="0">
                <a:solidFill>
                  <a:schemeClr val="accent1"/>
                </a:solidFill>
              </a:rPr>
              <a:t>; X = X + 1 and compare with 100</a:t>
            </a:r>
          </a:p>
          <a:p>
            <a:r>
              <a:rPr lang="en-US" sz="2000" b="1" dirty="0">
                <a:solidFill>
                  <a:schemeClr val="accent1"/>
                </a:solidFill>
              </a:rPr>
              <a:t>; If X &lt; 100, continue loop</a:t>
            </a:r>
          </a:p>
          <a:p>
            <a:endParaRPr lang="en-US" sz="2000" b="1" dirty="0">
              <a:solidFill>
                <a:schemeClr val="accent1"/>
              </a:solidFill>
            </a:endParaRPr>
          </a:p>
          <a:p>
            <a:endParaRPr lang="en-US" sz="2000" b="1" dirty="0">
              <a:solidFill>
                <a:schemeClr val="accent1"/>
              </a:solidFill>
            </a:endParaRPr>
          </a:p>
          <a:p>
            <a:endParaRPr lang="en-US" sz="2000" b="1" dirty="0">
              <a:solidFill>
                <a:schemeClr val="accent1"/>
              </a:solidFill>
            </a:endParaRPr>
          </a:p>
          <a:p>
            <a:r>
              <a:rPr lang="en-US" sz="2000" b="1" dirty="0">
                <a:solidFill>
                  <a:schemeClr val="accent1"/>
                </a:solidFill>
              </a:rPr>
              <a:t>; Reserve 100 bytes (array)</a:t>
            </a:r>
          </a:p>
          <a:p>
            <a:r>
              <a:rPr lang="en-US" sz="2000" b="1" dirty="0">
                <a:solidFill>
                  <a:schemeClr val="accent1"/>
                </a:solidFill>
              </a:rPr>
              <a:t>; Character constant</a:t>
            </a:r>
          </a:p>
          <a:p>
            <a:endParaRPr lang="en-US" sz="20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58071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EDF36F-D1DA-4897-8ED6-04B5121CBE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8714" y="845422"/>
            <a:ext cx="3581402" cy="1494117"/>
          </a:xfrm>
        </p:spPr>
        <p:txBody>
          <a:bodyPr anchor="b">
            <a:normAutofit/>
          </a:bodyPr>
          <a:lstStyle/>
          <a:p>
            <a:pPr algn="l"/>
            <a:r>
              <a:rPr lang="en-US" sz="2000" dirty="0">
                <a:solidFill>
                  <a:srgbClr val="FFFFFF"/>
                </a:solidFill>
              </a:rPr>
              <a:t>Sheet  1</a:t>
            </a:r>
          </a:p>
          <a:p>
            <a:pPr algn="l"/>
            <a:r>
              <a:rPr lang="en-US" sz="2000" dirty="0">
                <a:solidFill>
                  <a:srgbClr val="FFFFFF"/>
                </a:solidFill>
              </a:rPr>
              <a:t>Question 5</a:t>
            </a:r>
            <a:endParaRPr lang="en-US" sz="200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A50F21-2AE1-3FBD-D8B3-1949474A5423}"/>
              </a:ext>
            </a:extLst>
          </p:cNvPr>
          <p:cNvSpPr txBox="1"/>
          <p:nvPr/>
        </p:nvSpPr>
        <p:spPr>
          <a:xfrm>
            <a:off x="152400" y="2649423"/>
            <a:ext cx="3886204" cy="378565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Write a subroutine for SIC that will read a record into a buffer. The record may be any length from 1 to 100 bytes. The end of record is marked with a “null” character (ASCII code 00). The subroutine should place the length of the record read into a variable named LENGTH. </a:t>
            </a:r>
            <a:endParaRPr lang="ar-EG" sz="2400" dirty="0">
              <a:solidFill>
                <a:schemeClr val="bg1"/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2382B7A-76F7-CDFE-347B-531B1F9EBE3F}"/>
              </a:ext>
            </a:extLst>
          </p:cNvPr>
          <p:cNvGrpSpPr/>
          <p:nvPr/>
        </p:nvGrpSpPr>
        <p:grpSpPr>
          <a:xfrm>
            <a:off x="4348332" y="602020"/>
            <a:ext cx="6096000" cy="5287250"/>
            <a:chOff x="4728522" y="595596"/>
            <a:chExt cx="6096000" cy="528725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E5A8F10-55CA-7340-9D58-D422617ABA9A}"/>
                </a:ext>
              </a:extLst>
            </p:cNvPr>
            <p:cNvSpPr txBox="1"/>
            <p:nvPr/>
          </p:nvSpPr>
          <p:spPr>
            <a:xfrm>
              <a:off x="4728522" y="1173865"/>
              <a:ext cx="6096000" cy="47089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b="1" dirty="0">
                  <a:solidFill>
                    <a:srgbClr val="FF0000"/>
                  </a:solidFill>
                </a:rPr>
                <a:t>READREC        LDX             ZERO</a:t>
              </a:r>
            </a:p>
            <a:p>
              <a:r>
                <a:rPr lang="en-US" sz="2000" b="1" dirty="0">
                  <a:solidFill>
                    <a:srgbClr val="FF0000"/>
                  </a:solidFill>
                </a:rPr>
                <a:t>LOOP     	         RD               INDEV </a:t>
              </a:r>
            </a:p>
            <a:p>
              <a:r>
                <a:rPr lang="en-US" sz="2000" b="1" dirty="0">
                  <a:solidFill>
                    <a:srgbClr val="FF0000"/>
                  </a:solidFill>
                </a:rPr>
                <a:t>	         COMP         ZERO </a:t>
              </a:r>
            </a:p>
            <a:p>
              <a:r>
                <a:rPr lang="en-US" sz="2000" b="1" dirty="0">
                  <a:solidFill>
                    <a:srgbClr val="FF0000"/>
                  </a:solidFill>
                </a:rPr>
                <a:t>	         JEQ              DONE</a:t>
              </a:r>
            </a:p>
            <a:p>
              <a:r>
                <a:rPr lang="en-US" sz="2000" b="1" dirty="0">
                  <a:solidFill>
                    <a:srgbClr val="FF0000"/>
                  </a:solidFill>
                </a:rPr>
                <a:t>         	         STCH           BUFFER,X </a:t>
              </a:r>
            </a:p>
            <a:p>
              <a:pPr lvl="3"/>
              <a:r>
                <a:rPr lang="en-US" sz="2000" b="1" dirty="0">
                  <a:solidFill>
                    <a:srgbClr val="FF0000"/>
                  </a:solidFill>
                </a:rPr>
                <a:t> TIX              HUNDRED </a:t>
              </a:r>
            </a:p>
            <a:p>
              <a:pPr lvl="3"/>
              <a:r>
                <a:rPr lang="en-US" sz="2000" b="1" dirty="0">
                  <a:solidFill>
                    <a:srgbClr val="FF0000"/>
                  </a:solidFill>
                </a:rPr>
                <a:t> JLT               LOOP</a:t>
              </a:r>
            </a:p>
            <a:p>
              <a:r>
                <a:rPr lang="en-US" sz="2000" b="1" dirty="0">
                  <a:solidFill>
                    <a:srgbClr val="FF0000"/>
                  </a:solidFill>
                </a:rPr>
                <a:t>DONE     	         STX              LENGTH      </a:t>
              </a:r>
            </a:p>
            <a:p>
              <a:r>
                <a:rPr lang="en-US" sz="2000" b="1" dirty="0">
                  <a:solidFill>
                    <a:srgbClr val="FF0000"/>
                  </a:solidFill>
                </a:rPr>
                <a:t>        	         RSUB</a:t>
              </a:r>
            </a:p>
            <a:p>
              <a:endParaRPr lang="en-US" sz="2000" b="1" dirty="0">
                <a:solidFill>
                  <a:srgbClr val="FF0000"/>
                </a:solidFill>
              </a:endParaRPr>
            </a:p>
            <a:p>
              <a:r>
                <a:rPr lang="en-US" sz="2000" b="1" dirty="0">
                  <a:solidFill>
                    <a:srgbClr val="FF0000"/>
                  </a:solidFill>
                </a:rPr>
                <a:t>BUFFER           RESB    	100</a:t>
              </a:r>
            </a:p>
            <a:p>
              <a:r>
                <a:rPr lang="en-US" sz="2000" b="1" dirty="0">
                  <a:solidFill>
                    <a:srgbClr val="FF0000"/>
                  </a:solidFill>
                </a:rPr>
                <a:t>LENGTH          RESW    	1           </a:t>
              </a:r>
            </a:p>
            <a:p>
              <a:r>
                <a:rPr lang="en-US" sz="2000" b="1" dirty="0">
                  <a:solidFill>
                    <a:srgbClr val="FF0000"/>
                  </a:solidFill>
                </a:rPr>
                <a:t>ZERO     	         WORD    	0</a:t>
              </a:r>
            </a:p>
            <a:p>
              <a:r>
                <a:rPr lang="en-US" sz="2000" b="1" dirty="0">
                  <a:solidFill>
                    <a:srgbClr val="FF0000"/>
                  </a:solidFill>
                </a:rPr>
                <a:t>HUNDRED      WORD    	100</a:t>
              </a:r>
            </a:p>
            <a:p>
              <a:r>
                <a:rPr lang="en-US" sz="2000" b="1" dirty="0">
                  <a:solidFill>
                    <a:srgbClr val="FF0000"/>
                  </a:solidFill>
                </a:rPr>
                <a:t>INDEV   	         BYTE    	X'F1’`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7E9FB82-4BBD-C96E-16D2-F388E1EA5DF1}"/>
                </a:ext>
              </a:extLst>
            </p:cNvPr>
            <p:cNvCxnSpPr/>
            <p:nvPr/>
          </p:nvCxnSpPr>
          <p:spPr>
            <a:xfrm flipV="1">
              <a:off x="5454316" y="872509"/>
              <a:ext cx="336884" cy="33866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F6B059B-9534-4DB0-4FED-28FF077ECC73}"/>
                </a:ext>
              </a:extLst>
            </p:cNvPr>
            <p:cNvSpPr txBox="1"/>
            <p:nvPr/>
          </p:nvSpPr>
          <p:spPr>
            <a:xfrm>
              <a:off x="5289996" y="595596"/>
              <a:ext cx="22569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Subroutine Name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0B741245-D76B-58C4-E0A8-3EBC1D393DC1}"/>
                </a:ext>
              </a:extLst>
            </p:cNvPr>
            <p:cNvSpPr/>
            <p:nvPr/>
          </p:nvSpPr>
          <p:spPr>
            <a:xfrm>
              <a:off x="4728522" y="1211178"/>
              <a:ext cx="1122948" cy="312821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801B8E83-54BC-F4BA-DA41-EA9E7B3F290E}"/>
              </a:ext>
            </a:extLst>
          </p:cNvPr>
          <p:cNvSpPr txBox="1"/>
          <p:nvPr/>
        </p:nvSpPr>
        <p:spPr>
          <a:xfrm>
            <a:off x="7396332" y="1161999"/>
            <a:ext cx="5370836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	 </a:t>
            </a:r>
            <a:r>
              <a:rPr lang="en-US" sz="2000" b="1" dirty="0">
                <a:solidFill>
                  <a:schemeClr val="accent1"/>
                </a:solidFill>
              </a:rPr>
              <a:t>; X = 0  (index / counter)</a:t>
            </a:r>
          </a:p>
          <a:p>
            <a:r>
              <a:rPr lang="en-US" sz="2000" b="1" dirty="0">
                <a:solidFill>
                  <a:schemeClr val="accent1"/>
                </a:solidFill>
              </a:rPr>
              <a:t>	 ; Read one character into A</a:t>
            </a:r>
          </a:p>
          <a:p>
            <a:r>
              <a:rPr lang="en-US" sz="2000" b="1" dirty="0">
                <a:solidFill>
                  <a:schemeClr val="accent1"/>
                </a:solidFill>
              </a:rPr>
              <a:t>	 ; Compare with 00 (null)</a:t>
            </a:r>
          </a:p>
          <a:p>
            <a:r>
              <a:rPr lang="en-US" sz="2000" b="1" dirty="0">
                <a:solidFill>
                  <a:schemeClr val="accent1"/>
                </a:solidFill>
              </a:rPr>
              <a:t>	 ; If null → end of record</a:t>
            </a:r>
          </a:p>
          <a:p>
            <a:r>
              <a:rPr lang="en-US" sz="2000" b="1" dirty="0">
                <a:solidFill>
                  <a:schemeClr val="accent1"/>
                </a:solidFill>
              </a:rPr>
              <a:t>	 ; Store character in buffer</a:t>
            </a:r>
          </a:p>
          <a:p>
            <a:r>
              <a:rPr lang="en-US" sz="2000" b="1" dirty="0">
                <a:solidFill>
                  <a:schemeClr val="accent1"/>
                </a:solidFill>
              </a:rPr>
              <a:t>	 ; X = X + 1, compare with 100</a:t>
            </a:r>
          </a:p>
          <a:p>
            <a:r>
              <a:rPr lang="en-US" sz="2000" b="1" dirty="0">
                <a:solidFill>
                  <a:schemeClr val="accent1"/>
                </a:solidFill>
              </a:rPr>
              <a:t>	 ; If X &lt; 100 → continue</a:t>
            </a:r>
          </a:p>
          <a:p>
            <a:r>
              <a:rPr lang="en-US" sz="2000" b="1" dirty="0">
                <a:solidFill>
                  <a:schemeClr val="accent1"/>
                </a:solidFill>
              </a:rPr>
              <a:t>  	 ; Store number of characters read</a:t>
            </a:r>
          </a:p>
          <a:p>
            <a:r>
              <a:rPr lang="en-US" sz="2000" b="1" dirty="0">
                <a:solidFill>
                  <a:schemeClr val="accent1"/>
                </a:solidFill>
              </a:rPr>
              <a:t>	 ; Return to caller</a:t>
            </a:r>
          </a:p>
          <a:p>
            <a:r>
              <a:rPr lang="en-US" sz="2000" b="1" dirty="0">
                <a:solidFill>
                  <a:schemeClr val="accent1"/>
                </a:solidFill>
              </a:rPr>
              <a:t>	</a:t>
            </a:r>
          </a:p>
          <a:p>
            <a:r>
              <a:rPr lang="en-US" sz="2000" b="1" dirty="0">
                <a:solidFill>
                  <a:schemeClr val="accent1"/>
                </a:solidFill>
              </a:rPr>
              <a:t>	 ; Buffer for 100 bytes</a:t>
            </a:r>
          </a:p>
          <a:p>
            <a:r>
              <a:rPr lang="en-US" sz="2000" b="1" dirty="0">
                <a:solidFill>
                  <a:schemeClr val="accent1"/>
                </a:solidFill>
              </a:rPr>
              <a:t>	 ; Record length</a:t>
            </a:r>
          </a:p>
          <a:p>
            <a:r>
              <a:rPr lang="en-US" sz="2000" b="1" dirty="0">
                <a:solidFill>
                  <a:schemeClr val="accent1"/>
                </a:solidFill>
              </a:rPr>
              <a:t> </a:t>
            </a:r>
          </a:p>
          <a:p>
            <a:r>
              <a:rPr lang="en-US" sz="2000" b="1" dirty="0">
                <a:solidFill>
                  <a:schemeClr val="accent1"/>
                </a:solidFill>
              </a:rPr>
              <a:t> </a:t>
            </a:r>
          </a:p>
          <a:p>
            <a:r>
              <a:rPr lang="en-US" sz="2000" b="1" dirty="0">
                <a:solidFill>
                  <a:schemeClr val="accent1"/>
                </a:solidFill>
              </a:rPr>
              <a:t>	   ; Example input device code</a:t>
            </a:r>
          </a:p>
          <a:p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77817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EE2E95-1DD3-B47F-497E-0A38C2692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25BF8153-FD9C-1504-C225-0B2B2FA3F4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395EAAB-1588-D212-8610-C0C5BF4AE8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CDBCA0E-814F-ED83-E956-E13229B9C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EC5544C-478E-9D50-13B7-B6BFC560DF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FB48FAB0-B0F4-C566-B12A-720FB1A2B4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CB24A6-3E1D-00C5-1811-B46F30C7A4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8714" y="845422"/>
            <a:ext cx="3581402" cy="1494117"/>
          </a:xfrm>
        </p:spPr>
        <p:txBody>
          <a:bodyPr anchor="b">
            <a:normAutofit/>
          </a:bodyPr>
          <a:lstStyle/>
          <a:p>
            <a:pPr algn="l"/>
            <a:r>
              <a:rPr lang="en-US" sz="2000" dirty="0">
                <a:solidFill>
                  <a:srgbClr val="FFFFFF"/>
                </a:solidFill>
              </a:rPr>
              <a:t>Sheet  1</a:t>
            </a:r>
          </a:p>
          <a:p>
            <a:pPr algn="l"/>
            <a:r>
              <a:rPr lang="en-US" sz="2000" dirty="0">
                <a:solidFill>
                  <a:srgbClr val="FFFFFF"/>
                </a:solidFill>
              </a:rPr>
              <a:t>Question 6</a:t>
            </a:r>
            <a:endParaRPr lang="en-US" sz="200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0756F2-F8B9-6764-9D30-553AA805A904}"/>
              </a:ext>
            </a:extLst>
          </p:cNvPr>
          <p:cNvSpPr txBox="1"/>
          <p:nvPr/>
        </p:nvSpPr>
        <p:spPr>
          <a:xfrm>
            <a:off x="91440" y="2649423"/>
            <a:ext cx="3947164" cy="364715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</a:rPr>
              <a:t>Suppose that ALPHA and BETA are the two arrays of 10 words each ( ALPHA = {4,2,4,6,8,0,3,5,9,12} and </a:t>
            </a:r>
          </a:p>
          <a:p>
            <a:r>
              <a:rPr lang="en-US" sz="2100" dirty="0">
                <a:solidFill>
                  <a:schemeClr val="bg1"/>
                </a:solidFill>
              </a:rPr>
              <a:t>BETA={10,2,9,1,5,7,15,4,4,1}).</a:t>
            </a:r>
          </a:p>
          <a:p>
            <a:endParaRPr lang="en-US" sz="2100" dirty="0">
              <a:solidFill>
                <a:schemeClr val="bg1"/>
              </a:solidFill>
            </a:endParaRPr>
          </a:p>
          <a:p>
            <a:r>
              <a:rPr lang="en-US" sz="2100" dirty="0">
                <a:solidFill>
                  <a:schemeClr val="bg1"/>
                </a:solidFill>
              </a:rPr>
              <a:t>Write an assembly code that computes another array GAMMA whose elements are obtained by multiplying the corresponding ALPHA element by 4 and adding the corresponding BETA elements.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966D79-C639-3604-828A-58F96D786842}"/>
              </a:ext>
            </a:extLst>
          </p:cNvPr>
          <p:cNvSpPr txBox="1"/>
          <p:nvPr/>
        </p:nvSpPr>
        <p:spPr>
          <a:xfrm>
            <a:off x="5363890" y="166976"/>
            <a:ext cx="5574740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 	   LDX     	    ZERO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LOOP         LDA    	    ALPHA,X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        	   MUL    	    FOUR</a:t>
            </a:r>
          </a:p>
          <a:p>
            <a:pPr lvl="1"/>
            <a:r>
              <a:rPr lang="en-US" sz="2000" b="1" dirty="0">
                <a:solidFill>
                  <a:srgbClr val="FF0000"/>
                </a:solidFill>
              </a:rPr>
              <a:t>           ADD         BETA,X</a:t>
            </a:r>
          </a:p>
          <a:p>
            <a:pPr lvl="1"/>
            <a:r>
              <a:rPr lang="en-US" sz="2000" b="1" dirty="0">
                <a:solidFill>
                  <a:srgbClr val="FF0000"/>
                </a:solidFill>
              </a:rPr>
              <a:t>           STA     	    GAMMA,X</a:t>
            </a:r>
          </a:p>
          <a:p>
            <a:pPr lvl="1"/>
            <a:r>
              <a:rPr lang="en-US" sz="2000" b="1" dirty="0">
                <a:solidFill>
                  <a:srgbClr val="FF0000"/>
                </a:solidFill>
              </a:rPr>
              <a:t>           LDA     	    XREG</a:t>
            </a:r>
          </a:p>
          <a:p>
            <a:pPr lvl="1"/>
            <a:r>
              <a:rPr lang="en-US" sz="2000" b="1" dirty="0">
                <a:solidFill>
                  <a:srgbClr val="FF0000"/>
                </a:solidFill>
              </a:rPr>
              <a:t>           ADD         THREE</a:t>
            </a:r>
          </a:p>
          <a:p>
            <a:pPr lvl="1"/>
            <a:r>
              <a:rPr lang="en-US" sz="2000" b="1" dirty="0">
                <a:solidFill>
                  <a:srgbClr val="FF0000"/>
                </a:solidFill>
              </a:rPr>
              <a:t>           STA     	    XREG</a:t>
            </a:r>
          </a:p>
          <a:p>
            <a:pPr lvl="1"/>
            <a:r>
              <a:rPr lang="en-US" sz="2000" b="1" dirty="0">
                <a:solidFill>
                  <a:srgbClr val="FF0000"/>
                </a:solidFill>
              </a:rPr>
              <a:t>           LDX     	    XREG</a:t>
            </a:r>
          </a:p>
          <a:p>
            <a:pPr lvl="1"/>
            <a:r>
              <a:rPr lang="en-US" sz="2000" b="1" dirty="0">
                <a:solidFill>
                  <a:srgbClr val="FF0000"/>
                </a:solidFill>
              </a:rPr>
              <a:t>           COMP     THIRTY</a:t>
            </a:r>
          </a:p>
          <a:p>
            <a:pPr lvl="1"/>
            <a:r>
              <a:rPr lang="en-US" sz="2000" b="1" dirty="0">
                <a:solidFill>
                  <a:srgbClr val="FF0000"/>
                </a:solidFill>
              </a:rPr>
              <a:t>           JLT     	    LOOP</a:t>
            </a:r>
          </a:p>
          <a:p>
            <a:pPr lvl="1"/>
            <a:r>
              <a:rPr lang="en-US" sz="2000" b="1" dirty="0">
                <a:solidFill>
                  <a:srgbClr val="FF0000"/>
                </a:solidFill>
              </a:rPr>
              <a:t>           RSUB</a:t>
            </a:r>
          </a:p>
          <a:p>
            <a:endParaRPr lang="en-US" sz="2000" b="1" dirty="0">
              <a:solidFill>
                <a:srgbClr val="FF0000"/>
              </a:solidFill>
            </a:endParaRPr>
          </a:p>
          <a:p>
            <a:r>
              <a:rPr lang="en-US" sz="2000" b="1" dirty="0">
                <a:solidFill>
                  <a:srgbClr val="FF0000"/>
                </a:solidFill>
              </a:rPr>
              <a:t>ZERO    	   WORD        0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FOUR    	   WORD        4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THREE   	   WORD        3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THIRTY  	   WORD       30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XREG    	   WORD        0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ALPHA   	   WORD       4,2,4,6,8,0,3,5,9,12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BETA    	   WORD       10,2,9,1,5,7,15,4,4,1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GAMMA   RESW         10</a:t>
            </a:r>
          </a:p>
        </p:txBody>
      </p:sp>
    </p:spTree>
    <p:extLst>
      <p:ext uri="{BB962C8B-B14F-4D97-AF65-F5344CB8AC3E}">
        <p14:creationId xmlns:p14="http://schemas.microsoft.com/office/powerpoint/2010/main" val="32180159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2449</TotalTime>
  <Words>1348</Words>
  <Application>Microsoft Office PowerPoint</Application>
  <PresentationFormat>Widescreen</PresentationFormat>
  <Paragraphs>235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Section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Assembler Directives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NADEEN EMAD EL DIN HAMDY ABDELFATAH</dc:creator>
  <cp:lastModifiedBy>Aya Barakat</cp:lastModifiedBy>
  <cp:revision>16</cp:revision>
  <dcterms:created xsi:type="dcterms:W3CDTF">2021-11-26T20:08:50Z</dcterms:created>
  <dcterms:modified xsi:type="dcterms:W3CDTF">2026-02-21T22:58:49Z</dcterms:modified>
</cp:coreProperties>
</file>