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7" r:id="rId2"/>
    <p:sldId id="311" r:id="rId3"/>
    <p:sldId id="292" r:id="rId4"/>
    <p:sldId id="312" r:id="rId5"/>
    <p:sldId id="314" r:id="rId6"/>
    <p:sldId id="315" r:id="rId7"/>
    <p:sldId id="31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58516-5525-41F0-BF59-C48083D28645}" v="1" dt="2026-03-08T20:43:23.6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>
        <p:scale>
          <a:sx n="100" d="100"/>
          <a:sy n="100" d="100"/>
        </p:scale>
        <p:origin x="-48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9C0AE9E-D47A-49D5-B30A-0262751AB258}" type="datetimeFigureOut">
              <a:rPr lang="ar-EG" smtClean="0"/>
              <a:t>26/09/1447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429B219-3DC2-413E-BB62-B48BD116317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2257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63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95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65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38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F86-8BE5-4E55-939A-4CA8B11F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21AA2-5BB0-4C4E-9362-E15E12579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BBF3-9276-48E1-BF53-7D2FD4E4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C5F4-375C-4955-8DC6-39A21275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211B-13B3-416E-9E2F-84224059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C7A-7F49-4E37-AB93-A92B8C89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D7D3-B31D-4045-AE6A-F094683F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028B-D478-41E3-9DDE-EEF433C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CAEA-3F00-4902-8163-FBCB35CA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391-3218-4642-A28D-45628A4E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C7B-8EC2-43A1-88CF-261CF1E3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2B8-315A-4EA8-95B6-665C6C7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6FC4-9A20-4B2F-8947-749AD46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6A3B8-6E20-47EB-ACF8-C26A39C1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DCF5-D810-42B2-8B1A-096B9EF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6CD-24B6-4BF9-B895-24D9A66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1844-9155-440E-8DF3-D284F8B27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6E3-FF3A-47A1-99B6-96128472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F9A2-1C36-4BCA-A2A4-1A087202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F623C-3EA6-473F-98B3-EAFF2239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91697-378E-46A4-B93E-A647E4CC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B791-C80A-4530-8024-6B3AD206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26DD-91AB-40AC-AF28-CE2656C91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F98-2D26-4CC6-91F2-519EC849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A12-4E53-4CD5-AE63-69E8D2A29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7952E-A7A8-49EF-B069-C5FFAF62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F1101-B919-440D-83BD-60B460D2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AD026-D9BF-4A89-8F3F-9B5353C8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5996-1530-41F6-8EAB-CE05F786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8EB-4D72-4C2D-99AC-D55ACA28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8C9-3F02-432A-B4D5-278B70CC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CF67-E4E9-4BFC-9968-BD71649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7F7E0-B3F4-4E6D-8576-F8D47E8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4CC8-ACCA-4EEA-AB56-3AEF2C95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950FE-C59A-481E-A9E4-FB6ECD99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1CFF-8974-48DF-8EFB-12A5BB38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592A-B52D-4A0B-A9EB-5047C746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E7D3-1800-4524-B3F4-CF0746698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41D84-F575-462C-8593-B2826A86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7C7D-DB09-4726-9C31-C2683651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D6D9-C349-4211-9234-AD56D5DA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BE0B-FCCC-4D0F-B82E-B83C6008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75AF-83A9-41F7-A1A9-1B7F8A0C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22B42-C2F2-4C2C-8684-C040B4CD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149DA-CA59-47D5-8D34-BBC149D3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FC1A-4AB6-469F-BEF5-C7322822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5A0C-F869-4754-88DD-D7398913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BE0A7-E937-40D1-88AB-F3E4823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3AEF-430A-495B-856B-8DFD415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B936-2C98-47CE-90E0-F748E2BD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49B0-8378-4853-9239-E080384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26D-B69A-4C9A-A689-89A10E15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B6A8-1DF8-4990-9449-5E3C3EEF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B047E-737D-4624-A740-30D13563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6690D-B49A-4CD4-99C7-CEEB8D2B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BB12-C641-41E3-9B7A-33E3AFF4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9F18-0E3E-439B-B096-2E16A3E2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E89C-BC4B-43FC-A12A-23FDF87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CBD01-0B0B-443A-8335-D5A458CE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BB28-D2F9-484E-80D3-757703EF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F4B7-DF04-4607-A541-75EE0B582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3F09-E982-45C1-964F-77925596AC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5EB9-8FAE-4F4B-AED5-8E2F7752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C838-B67B-42EA-BA5C-9987844D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0BC8-5CEA-085A-1903-C3871077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Section 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1832-72A5-6196-8537-6ECE0A21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Systems Programming ECE3502</a:t>
            </a:r>
          </a:p>
        </p:txBody>
      </p:sp>
    </p:spTree>
    <p:extLst>
      <p:ext uri="{BB962C8B-B14F-4D97-AF65-F5344CB8AC3E}">
        <p14:creationId xmlns:p14="http://schemas.microsoft.com/office/powerpoint/2010/main" val="36218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5" name="Picture 24" descr="A white table with black text&#10;&#10;Description automatically generated">
            <a:extLst>
              <a:ext uri="{FF2B5EF4-FFF2-40B4-BE49-F238E27FC236}">
                <a16:creationId xmlns:a16="http://schemas.microsoft.com/office/drawing/2014/main" id="{F5401468-5F5F-BD9B-1E49-B4F02F8FF3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372"/>
          <a:stretch/>
        </p:blipFill>
        <p:spPr>
          <a:xfrm>
            <a:off x="4392055" y="2516742"/>
            <a:ext cx="6306425" cy="4132097"/>
          </a:xfrm>
          <a:prstGeom prst="rect">
            <a:avLst/>
          </a:prstGeom>
        </p:spPr>
      </p:pic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FBB9CB3-96F9-10D8-E2EB-4070C74CA846}"/>
              </a:ext>
            </a:extLst>
          </p:cNvPr>
          <p:cNvSpPr txBox="1">
            <a:spLocks/>
          </p:cNvSpPr>
          <p:nvPr/>
        </p:nvSpPr>
        <p:spPr>
          <a:xfrm>
            <a:off x="3578862" y="141738"/>
            <a:ext cx="3751220" cy="7550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Memory formats</a:t>
            </a:r>
          </a:p>
          <a:p>
            <a:pPr marL="45720"/>
            <a:r>
              <a:rPr lang="en-US" altLang="zh-TW" sz="2000" dirty="0">
                <a:solidFill>
                  <a:schemeClr val="accent1">
                    <a:lumMod val="50000"/>
                  </a:schemeClr>
                </a:solidFill>
              </a:rPr>
              <a:t>	1 megabytes (2^20 bytes)</a:t>
            </a:r>
          </a:p>
          <a:p>
            <a:pPr marL="57150" lvl="1"/>
            <a:endParaRPr lang="en-US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marL="57150" lvl="1"/>
            <a:endParaRPr lang="en-US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E886F825-1EEA-921B-A2D0-485D8CB8306B}"/>
              </a:ext>
            </a:extLst>
          </p:cNvPr>
          <p:cNvSpPr txBox="1">
            <a:spLocks/>
          </p:cNvSpPr>
          <p:nvPr/>
        </p:nvSpPr>
        <p:spPr>
          <a:xfrm>
            <a:off x="4420900" y="1243114"/>
            <a:ext cx="7597138" cy="1082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algn="l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Registers</a:t>
            </a:r>
          </a:p>
          <a:p>
            <a:pPr marL="45720" algn="l"/>
            <a:r>
              <a:rPr lang="en-US" altLang="zh-TW" sz="2100" dirty="0">
                <a:solidFill>
                  <a:schemeClr val="accent1">
                    <a:lumMod val="50000"/>
                  </a:schemeClr>
                </a:solidFill>
              </a:rPr>
              <a:t>There are nine registers; each register is 24 bits in length except floating point register</a:t>
            </a:r>
          </a:p>
          <a:p>
            <a:pPr marL="57150" lvl="1"/>
            <a:endParaRPr lang="en-US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marL="57150" lvl="1"/>
            <a:endParaRPr lang="en-US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F48D33B-78E3-F6AA-9A81-1CDC5E51578E}"/>
              </a:ext>
            </a:extLst>
          </p:cNvPr>
          <p:cNvCxnSpPr/>
          <p:nvPr/>
        </p:nvCxnSpPr>
        <p:spPr>
          <a:xfrm>
            <a:off x="10698480" y="2946400"/>
            <a:ext cx="13195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5FC23C7-FD84-B2EB-4B56-0EF10E33DC30}"/>
              </a:ext>
            </a:extLst>
          </p:cNvPr>
          <p:cNvCxnSpPr/>
          <p:nvPr/>
        </p:nvCxnSpPr>
        <p:spPr>
          <a:xfrm>
            <a:off x="10698480" y="2520244"/>
            <a:ext cx="0" cy="4132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FD2506C-EA32-6BF0-8DA3-DE7795F207AC}"/>
              </a:ext>
            </a:extLst>
          </p:cNvPr>
          <p:cNvSpPr txBox="1"/>
          <p:nvPr/>
        </p:nvSpPr>
        <p:spPr>
          <a:xfrm>
            <a:off x="10698480" y="2513240"/>
            <a:ext cx="11277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Number</a:t>
            </a:r>
            <a:endParaRPr lang="ar-EG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96423E-7FAE-FBA1-B04A-FE140FE597A0}"/>
              </a:ext>
            </a:extLst>
          </p:cNvPr>
          <p:cNvSpPr txBox="1"/>
          <p:nvPr/>
        </p:nvSpPr>
        <p:spPr>
          <a:xfrm>
            <a:off x="11066359" y="2979231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</a:t>
            </a:r>
            <a:endParaRPr lang="ar-EG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451C56-A381-C84A-8C68-FBB1C3C39C41}"/>
              </a:ext>
            </a:extLst>
          </p:cNvPr>
          <p:cNvSpPr txBox="1"/>
          <p:nvPr/>
        </p:nvSpPr>
        <p:spPr>
          <a:xfrm>
            <a:off x="11070380" y="3437909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</a:t>
            </a:r>
            <a:endParaRPr lang="ar-EG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B1891F-1C66-24E2-EFE1-7D00227245EA}"/>
              </a:ext>
            </a:extLst>
          </p:cNvPr>
          <p:cNvSpPr txBox="1"/>
          <p:nvPr/>
        </p:nvSpPr>
        <p:spPr>
          <a:xfrm>
            <a:off x="11078108" y="4624293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4</a:t>
            </a:r>
            <a:endParaRPr lang="ar-EG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F13720-965A-B2E5-F583-9547205D9B84}"/>
              </a:ext>
            </a:extLst>
          </p:cNvPr>
          <p:cNvSpPr txBox="1"/>
          <p:nvPr/>
        </p:nvSpPr>
        <p:spPr>
          <a:xfrm>
            <a:off x="11098429" y="5032168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5</a:t>
            </a:r>
            <a:endParaRPr lang="ar-EG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C215B8-E2C0-E0A7-B953-B404C74D61DF}"/>
              </a:ext>
            </a:extLst>
          </p:cNvPr>
          <p:cNvSpPr txBox="1"/>
          <p:nvPr/>
        </p:nvSpPr>
        <p:spPr>
          <a:xfrm>
            <a:off x="11110599" y="5430220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6</a:t>
            </a:r>
            <a:endParaRPr lang="ar-EG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06E3F0-7863-98AE-AED4-39E792394B71}"/>
              </a:ext>
            </a:extLst>
          </p:cNvPr>
          <p:cNvSpPr txBox="1"/>
          <p:nvPr/>
        </p:nvSpPr>
        <p:spPr>
          <a:xfrm>
            <a:off x="11116211" y="5827912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8</a:t>
            </a:r>
            <a:endParaRPr lang="ar-EG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C9E6CA2-C1EB-9346-407D-CE7C2F1DDBFA}"/>
              </a:ext>
            </a:extLst>
          </p:cNvPr>
          <p:cNvSpPr txBox="1"/>
          <p:nvPr/>
        </p:nvSpPr>
        <p:spPr>
          <a:xfrm>
            <a:off x="11123301" y="6197244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9</a:t>
            </a:r>
            <a:endParaRPr lang="ar-EG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B733C6-5565-E2F8-F7FA-0E4B1544AC2A}"/>
              </a:ext>
            </a:extLst>
          </p:cNvPr>
          <p:cNvSpPr txBox="1"/>
          <p:nvPr/>
        </p:nvSpPr>
        <p:spPr>
          <a:xfrm>
            <a:off x="11061280" y="4236424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3</a:t>
            </a:r>
            <a:endParaRPr lang="ar-EG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7458BD-FBB8-9AB5-0D3B-1C486043426F}"/>
              </a:ext>
            </a:extLst>
          </p:cNvPr>
          <p:cNvSpPr txBox="1"/>
          <p:nvPr/>
        </p:nvSpPr>
        <p:spPr>
          <a:xfrm>
            <a:off x="11066359" y="3768287"/>
            <a:ext cx="3839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2</a:t>
            </a:r>
            <a:endParaRPr lang="ar-EG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1B1856D-442C-2DDB-22CB-8F0AEAE51FC1}"/>
              </a:ext>
            </a:extLst>
          </p:cNvPr>
          <p:cNvSpPr/>
          <p:nvPr/>
        </p:nvSpPr>
        <p:spPr>
          <a:xfrm>
            <a:off x="4601043" y="6289040"/>
            <a:ext cx="428154" cy="2775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9FF7730-966D-CB1D-7D03-0B0985211574}"/>
              </a:ext>
            </a:extLst>
          </p:cNvPr>
          <p:cNvSpPr/>
          <p:nvPr/>
        </p:nvSpPr>
        <p:spPr>
          <a:xfrm>
            <a:off x="6901573" y="6289040"/>
            <a:ext cx="2669147" cy="2775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0A6270E-E93F-B606-CF0B-ED1BD3A9FAE1}"/>
              </a:ext>
            </a:extLst>
          </p:cNvPr>
          <p:cNvSpPr txBox="1"/>
          <p:nvPr/>
        </p:nvSpPr>
        <p:spPr>
          <a:xfrm>
            <a:off x="4580991" y="6242083"/>
            <a:ext cx="5858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SW</a:t>
            </a:r>
            <a:endParaRPr lang="ar-EG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DF3CBD-7C3A-9068-5DC9-51EA7E280CA5}"/>
              </a:ext>
            </a:extLst>
          </p:cNvPr>
          <p:cNvSpPr txBox="1"/>
          <p:nvPr/>
        </p:nvSpPr>
        <p:spPr>
          <a:xfrm>
            <a:off x="6871092" y="6242083"/>
            <a:ext cx="193909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j-cs"/>
              </a:rPr>
              <a:t>Status Word</a:t>
            </a:r>
            <a:endParaRPr lang="ar-EG" dirty="0">
              <a:solidFill>
                <a:schemeClr val="tx1">
                  <a:lumMod val="65000"/>
                  <a:lumOff val="35000"/>
                </a:schemeClr>
              </a:solidFill>
              <a:cs typeface="+mj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0E62B4A-DA16-BE74-D4C5-9D67F4D15CA1}"/>
              </a:ext>
            </a:extLst>
          </p:cNvPr>
          <p:cNvSpPr txBox="1"/>
          <p:nvPr/>
        </p:nvSpPr>
        <p:spPr>
          <a:xfrm>
            <a:off x="5818064" y="6181855"/>
            <a:ext cx="5858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j-cs"/>
              </a:rPr>
              <a:t>24</a:t>
            </a:r>
            <a:endParaRPr lang="ar-EG" dirty="0">
              <a:solidFill>
                <a:schemeClr val="tx1">
                  <a:lumMod val="65000"/>
                  <a:lumOff val="35000"/>
                </a:schemeClr>
              </a:solidFill>
              <a:cs typeface="+mj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DB7636-F08D-960C-BB53-4556896B7E7E}"/>
              </a:ext>
            </a:extLst>
          </p:cNvPr>
          <p:cNvSpPr txBox="1"/>
          <p:nvPr/>
        </p:nvSpPr>
        <p:spPr>
          <a:xfrm>
            <a:off x="5803072" y="5784183"/>
            <a:ext cx="5858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j-cs"/>
              </a:rPr>
              <a:t>24</a:t>
            </a:r>
            <a:endParaRPr lang="ar-EG" dirty="0">
              <a:solidFill>
                <a:schemeClr val="tx1">
                  <a:lumMod val="65000"/>
                  <a:lumOff val="35000"/>
                </a:schemeClr>
              </a:solidFill>
              <a:cs typeface="+mj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62C9737-5108-463E-3B1F-ED2591C3C7DA}"/>
              </a:ext>
            </a:extLst>
          </p:cNvPr>
          <p:cNvSpPr/>
          <p:nvPr/>
        </p:nvSpPr>
        <p:spPr>
          <a:xfrm>
            <a:off x="4601043" y="4236424"/>
            <a:ext cx="455268" cy="1547759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F65A1-AA7D-18CF-DDC5-F440064DF4FC}"/>
              </a:ext>
            </a:extLst>
          </p:cNvPr>
          <p:cNvSpPr txBox="1"/>
          <p:nvPr/>
        </p:nvSpPr>
        <p:spPr>
          <a:xfrm>
            <a:off x="459742" y="3164365"/>
            <a:ext cx="3119120" cy="10895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3600" dirty="0">
                <a:solidFill>
                  <a:schemeClr val="bg1"/>
                </a:solidFill>
              </a:rPr>
              <a:t>SIC/XE </a:t>
            </a:r>
            <a:r>
              <a:rPr lang="en-US" altLang="zh-TW" sz="3600" dirty="0">
                <a:solidFill>
                  <a:srgbClr val="FFFFFF"/>
                </a:solidFill>
              </a:rPr>
              <a:t>M</a:t>
            </a:r>
            <a:r>
              <a:rPr lang="en-US" sz="3600" dirty="0">
                <a:solidFill>
                  <a:srgbClr val="FFFFFF"/>
                </a:solidFill>
              </a:rPr>
              <a:t>achine Architecture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157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8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16" y="272472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Instruction formats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7F945D-BCC7-8FD9-E835-1085BE361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5916" y="1645679"/>
            <a:ext cx="7325524" cy="524784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39BBD2-EFE0-2666-7D23-E778A603985E}"/>
              </a:ext>
            </a:extLst>
          </p:cNvPr>
          <p:cNvSpPr txBox="1"/>
          <p:nvPr/>
        </p:nvSpPr>
        <p:spPr>
          <a:xfrm>
            <a:off x="7583963" y="1980214"/>
            <a:ext cx="23748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TIO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1DD1A-CE55-DFD0-6983-54A2DF5ED471}"/>
              </a:ext>
            </a:extLst>
          </p:cNvPr>
          <p:cNvSpPr txBox="1"/>
          <p:nvPr/>
        </p:nvSpPr>
        <p:spPr>
          <a:xfrm>
            <a:off x="7583963" y="2964673"/>
            <a:ext cx="23748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ADDR S,T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7F017-59B2-B31C-2EE7-54E493F2EC30}"/>
              </a:ext>
            </a:extLst>
          </p:cNvPr>
          <p:cNvSpPr txBox="1"/>
          <p:nvPr/>
        </p:nvSpPr>
        <p:spPr>
          <a:xfrm>
            <a:off x="7583963" y="4139123"/>
            <a:ext cx="23748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LDA    #3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F8A4A-A982-43E5-760E-E36D7375FB8A}"/>
              </a:ext>
            </a:extLst>
          </p:cNvPr>
          <p:cNvSpPr txBox="1"/>
          <p:nvPr/>
        </p:nvSpPr>
        <p:spPr>
          <a:xfrm>
            <a:off x="7583962" y="5571683"/>
            <a:ext cx="23748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+JSUB RDREC</a:t>
            </a:r>
            <a:endParaRPr lang="ar-E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20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9742" y="3164365"/>
            <a:ext cx="3119120" cy="15881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3600" dirty="0">
                <a:solidFill>
                  <a:schemeClr val="bg1"/>
                </a:solidFill>
              </a:rPr>
              <a:t>SIC/XE Addressing Modes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AEF07-1CC2-0128-1742-1697400358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3371" y="-47512"/>
            <a:ext cx="7838630" cy="32372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E0D964-88F8-CCF0-6CFD-95E9F38DF18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0982" y="3189765"/>
            <a:ext cx="7186698" cy="374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9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16" y="272472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Sheet3, Q1)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EE2922-FB49-8AA7-BFF7-073868A516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1" r="17347" b="2940"/>
          <a:stretch/>
        </p:blipFill>
        <p:spPr>
          <a:xfrm>
            <a:off x="8450573" y="1575459"/>
            <a:ext cx="3741425" cy="52027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A3A8E27-21D9-A2FB-7062-39D23724EB70}"/>
              </a:ext>
            </a:extLst>
          </p:cNvPr>
          <p:cNvSpPr txBox="1"/>
          <p:nvPr/>
        </p:nvSpPr>
        <p:spPr>
          <a:xfrm>
            <a:off x="14285" y="1693819"/>
            <a:ext cx="8558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dirty="0"/>
              <a:t>Give</a:t>
            </a:r>
            <a:r>
              <a:rPr lang="en-US" dirty="0"/>
              <a:t>n</a:t>
            </a:r>
            <a:r>
              <a:rPr lang="ar-EG" dirty="0"/>
              <a:t> the following memory structure calculate the target address and find the value</a:t>
            </a:r>
            <a:r>
              <a:rPr lang="en-US" dirty="0"/>
              <a:t> </a:t>
            </a:r>
            <a:r>
              <a:rPr lang="ar-EG" dirty="0"/>
              <a:t>loaded int</a:t>
            </a:r>
            <a:r>
              <a:rPr lang="en-US" dirty="0"/>
              <a:t>o</a:t>
            </a:r>
            <a:r>
              <a:rPr lang="ar-EG" dirty="0"/>
              <a:t> registe</a:t>
            </a:r>
            <a:r>
              <a:rPr lang="en-US" dirty="0"/>
              <a:t>r</a:t>
            </a:r>
            <a:r>
              <a:rPr lang="ar-EG" dirty="0"/>
              <a:t> A fo</a:t>
            </a:r>
            <a:r>
              <a:rPr lang="en-US" dirty="0"/>
              <a:t>r</a:t>
            </a:r>
            <a:r>
              <a:rPr lang="ar-EG" dirty="0"/>
              <a:t> th</a:t>
            </a:r>
            <a:r>
              <a:rPr lang="en-US" dirty="0"/>
              <a:t>e</a:t>
            </a:r>
            <a:r>
              <a:rPr lang="ar-EG" dirty="0"/>
              <a:t> follow</a:t>
            </a:r>
            <a:r>
              <a:rPr lang="en-US" dirty="0" err="1"/>
              <a:t>i</a:t>
            </a:r>
            <a:r>
              <a:rPr lang="ar-EG" dirty="0"/>
              <a:t>ng mac</a:t>
            </a:r>
            <a:r>
              <a:rPr lang="en-US" dirty="0"/>
              <a:t>h</a:t>
            </a:r>
            <a:r>
              <a:rPr lang="ar-EG" dirty="0"/>
              <a:t>ine </a:t>
            </a:r>
            <a:r>
              <a:rPr lang="en-US" dirty="0"/>
              <a:t>i</a:t>
            </a:r>
            <a:r>
              <a:rPr lang="ar-EG" dirty="0"/>
              <a:t>nstructions: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21005-4497-9850-85C6-7C4C28810F34}"/>
              </a:ext>
            </a:extLst>
          </p:cNvPr>
          <p:cNvSpPr txBox="1"/>
          <p:nvPr/>
        </p:nvSpPr>
        <p:spPr>
          <a:xfrm>
            <a:off x="385916" y="2457522"/>
            <a:ext cx="3075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ar-EG" dirty="0"/>
              <a:t>032600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F86064-7B51-0065-4FBF-3EB2A3FA7064}"/>
              </a:ext>
            </a:extLst>
          </p:cNvPr>
          <p:cNvSpPr txBox="1"/>
          <p:nvPr/>
        </p:nvSpPr>
        <p:spPr>
          <a:xfrm>
            <a:off x="385916" y="4954236"/>
            <a:ext cx="612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ar-EG" dirty="0"/>
              <a:t>03C300</a:t>
            </a:r>
          </a:p>
        </p:txBody>
      </p:sp>
      <p:graphicFrame>
        <p:nvGraphicFramePr>
          <p:cNvPr id="30" name="Table 7">
            <a:extLst>
              <a:ext uri="{FF2B5EF4-FFF2-40B4-BE49-F238E27FC236}">
                <a16:creationId xmlns:a16="http://schemas.microsoft.com/office/drawing/2014/main" id="{A8381521-08E0-AA67-9E6D-97E48F24A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103992"/>
              </p:ext>
            </p:extLst>
          </p:nvPr>
        </p:nvGraphicFramePr>
        <p:xfrm>
          <a:off x="1805273" y="2753114"/>
          <a:ext cx="66861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5251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3437695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8A64B5B-1D2C-87C6-50D1-4B988DC0A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59536"/>
              </p:ext>
            </p:extLst>
          </p:nvPr>
        </p:nvGraphicFramePr>
        <p:xfrm>
          <a:off x="1927193" y="2396006"/>
          <a:ext cx="72280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307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4068447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opcode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Disp.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4108727-2468-A0B5-9999-D065A196E66E}"/>
              </a:ext>
            </a:extLst>
          </p:cNvPr>
          <p:cNvSpPr txBox="1"/>
          <p:nvPr/>
        </p:nvSpPr>
        <p:spPr>
          <a:xfrm>
            <a:off x="1805273" y="3105785"/>
            <a:ext cx="21092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Get address: (</a:t>
            </a:r>
            <a:r>
              <a:rPr lang="en-US" sz="1600" dirty="0" err="1"/>
              <a:t>b,p,x</a:t>
            </a:r>
            <a:r>
              <a:rPr lang="en-US" sz="1600" dirty="0"/>
              <a:t>)</a:t>
            </a:r>
          </a:p>
          <a:p>
            <a:r>
              <a:rPr lang="en-US" sz="1600" dirty="0"/>
              <a:t>TA=</a:t>
            </a:r>
            <a:r>
              <a:rPr lang="en-US" sz="1600" dirty="0" err="1"/>
              <a:t>disp</a:t>
            </a:r>
            <a:r>
              <a:rPr lang="en-US" sz="1600" dirty="0"/>
              <a:t>+ (PC)</a:t>
            </a:r>
          </a:p>
          <a:p>
            <a:r>
              <a:rPr lang="en-US" sz="1600" dirty="0"/>
              <a:t>TA=600+3000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757B58-699B-D56F-72E6-E1B69C7B4C07}"/>
              </a:ext>
            </a:extLst>
          </p:cNvPr>
          <p:cNvSpPr txBox="1"/>
          <p:nvPr/>
        </p:nvSpPr>
        <p:spPr>
          <a:xfrm>
            <a:off x="4579825" y="3005734"/>
            <a:ext cx="19228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Use address: (</a:t>
            </a:r>
            <a:r>
              <a:rPr lang="en-US" sz="1600" dirty="0" err="1"/>
              <a:t>n,i</a:t>
            </a:r>
            <a:r>
              <a:rPr lang="en-US" sz="1600" dirty="0"/>
              <a:t>)</a:t>
            </a:r>
          </a:p>
          <a:p>
            <a:r>
              <a:rPr lang="en-US" sz="1600" dirty="0"/>
              <a:t>TA=3600</a:t>
            </a:r>
          </a:p>
          <a:p>
            <a:r>
              <a:rPr lang="en-US" sz="1600" dirty="0"/>
              <a:t>Value=(TA)= (3600)</a:t>
            </a:r>
          </a:p>
          <a:p>
            <a:r>
              <a:rPr lang="en-US" sz="1600" dirty="0"/>
              <a:t>Value=103000</a:t>
            </a:r>
          </a:p>
        </p:txBody>
      </p:sp>
      <p:graphicFrame>
        <p:nvGraphicFramePr>
          <p:cNvPr id="34" name="Table 7">
            <a:extLst>
              <a:ext uri="{FF2B5EF4-FFF2-40B4-BE49-F238E27FC236}">
                <a16:creationId xmlns:a16="http://schemas.microsoft.com/office/drawing/2014/main" id="{904D4854-3B5E-D5E2-8F50-0D0711710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582080"/>
              </p:ext>
            </p:extLst>
          </p:nvPr>
        </p:nvGraphicFramePr>
        <p:xfrm>
          <a:off x="1805273" y="4963236"/>
          <a:ext cx="66861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5251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3437695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graphicFrame>
        <p:nvGraphicFramePr>
          <p:cNvPr id="35" name="Table 7">
            <a:extLst>
              <a:ext uri="{FF2B5EF4-FFF2-40B4-BE49-F238E27FC236}">
                <a16:creationId xmlns:a16="http://schemas.microsoft.com/office/drawing/2014/main" id="{80489522-AA79-C0AA-F460-75BC5887D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00270"/>
              </p:ext>
            </p:extLst>
          </p:nvPr>
        </p:nvGraphicFramePr>
        <p:xfrm>
          <a:off x="1927193" y="4606128"/>
          <a:ext cx="72280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307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4068447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opcode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Disp.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71A338A3-D6A2-DAE3-9FAA-643F59F1AEEA}"/>
              </a:ext>
            </a:extLst>
          </p:cNvPr>
          <p:cNvSpPr txBox="1"/>
          <p:nvPr/>
        </p:nvSpPr>
        <p:spPr>
          <a:xfrm>
            <a:off x="1805273" y="5315907"/>
            <a:ext cx="21092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Get address: (</a:t>
            </a:r>
            <a:r>
              <a:rPr lang="en-US" sz="1600" dirty="0" err="1"/>
              <a:t>b,p,x</a:t>
            </a:r>
            <a:r>
              <a:rPr lang="en-US" sz="1600" dirty="0"/>
              <a:t>)</a:t>
            </a:r>
          </a:p>
          <a:p>
            <a:r>
              <a:rPr lang="en-US" sz="1600" dirty="0"/>
              <a:t>TA=</a:t>
            </a:r>
            <a:r>
              <a:rPr lang="en-US" sz="1600" dirty="0" err="1"/>
              <a:t>disp</a:t>
            </a:r>
            <a:r>
              <a:rPr lang="en-US" sz="1600" dirty="0"/>
              <a:t>+ (B)+ (x)</a:t>
            </a:r>
          </a:p>
          <a:p>
            <a:r>
              <a:rPr lang="en-US" sz="1600" dirty="0"/>
              <a:t>TA=300+6000+90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609EC9-9589-E283-509B-5EBC4F07F304}"/>
              </a:ext>
            </a:extLst>
          </p:cNvPr>
          <p:cNvSpPr txBox="1"/>
          <p:nvPr/>
        </p:nvSpPr>
        <p:spPr>
          <a:xfrm>
            <a:off x="4598765" y="5315907"/>
            <a:ext cx="19228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Use address: (</a:t>
            </a:r>
            <a:r>
              <a:rPr lang="en-US" sz="1600" dirty="0" err="1"/>
              <a:t>n,i</a:t>
            </a:r>
            <a:r>
              <a:rPr lang="en-US" sz="1600" dirty="0"/>
              <a:t>)</a:t>
            </a:r>
          </a:p>
          <a:p>
            <a:r>
              <a:rPr lang="en-US" sz="1600" dirty="0"/>
              <a:t>TA=6390</a:t>
            </a:r>
          </a:p>
          <a:p>
            <a:r>
              <a:rPr lang="en-US" sz="1600" dirty="0"/>
              <a:t>Value=(TA)= (6390)</a:t>
            </a:r>
          </a:p>
          <a:p>
            <a:r>
              <a:rPr lang="en-US" sz="1600" dirty="0"/>
              <a:t>Value=00C303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BD4BB-43EC-929C-3931-488840D912EE}"/>
              </a:ext>
            </a:extLst>
          </p:cNvPr>
          <p:cNvSpPr txBox="1"/>
          <p:nvPr/>
        </p:nvSpPr>
        <p:spPr>
          <a:xfrm>
            <a:off x="2044406" y="2758093"/>
            <a:ext cx="17832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0000  00    1     1  </a:t>
            </a:r>
            <a:endParaRPr lang="ar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A7B28-14C1-F55B-9EA6-82F6236AEC11}"/>
              </a:ext>
            </a:extLst>
          </p:cNvPr>
          <p:cNvSpPr txBox="1"/>
          <p:nvPr/>
        </p:nvSpPr>
        <p:spPr>
          <a:xfrm>
            <a:off x="3707148" y="2758093"/>
            <a:ext cx="1393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0     0    1    0  </a:t>
            </a:r>
            <a:endParaRPr lang="ar-E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E8BFE-A3AE-BCD8-F8D2-AC57DA3844CA}"/>
              </a:ext>
            </a:extLst>
          </p:cNvPr>
          <p:cNvSpPr txBox="1"/>
          <p:nvPr/>
        </p:nvSpPr>
        <p:spPr>
          <a:xfrm>
            <a:off x="5100319" y="2749591"/>
            <a:ext cx="331524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0110 0000 0000 </a:t>
            </a:r>
            <a:endParaRPr lang="ar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61E7B-6252-122F-ABF7-72087403C012}"/>
              </a:ext>
            </a:extLst>
          </p:cNvPr>
          <p:cNvSpPr txBox="1"/>
          <p:nvPr/>
        </p:nvSpPr>
        <p:spPr>
          <a:xfrm>
            <a:off x="2038103" y="4973744"/>
            <a:ext cx="17832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0000   00   1     1  </a:t>
            </a:r>
            <a:endParaRPr lang="ar-E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35353-75EC-5D42-9413-D35CF60CFCC9}"/>
              </a:ext>
            </a:extLst>
          </p:cNvPr>
          <p:cNvSpPr txBox="1"/>
          <p:nvPr/>
        </p:nvSpPr>
        <p:spPr>
          <a:xfrm>
            <a:off x="3747785" y="4973744"/>
            <a:ext cx="1393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1    1    0    0  </a:t>
            </a:r>
            <a:endParaRPr lang="ar-E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D628B-95A3-9795-76B1-8E22A7641769}"/>
              </a:ext>
            </a:extLst>
          </p:cNvPr>
          <p:cNvSpPr txBox="1"/>
          <p:nvPr/>
        </p:nvSpPr>
        <p:spPr>
          <a:xfrm>
            <a:off x="5090569" y="4954236"/>
            <a:ext cx="199364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0011 0000 0000 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67087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6" grpId="0"/>
      <p:bldP spid="37" grpId="0"/>
      <p:bldP spid="3" grpId="0"/>
      <p:bldP spid="4" grpId="0"/>
      <p:bldP spid="5" grpId="0"/>
      <p:bldP spid="8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02" y="8022"/>
            <a:ext cx="9477377" cy="78577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Sheet3, Q1)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EE2922-FB49-8AA7-BFF7-073868A516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1" r="17347" b="2940"/>
          <a:stretch/>
        </p:blipFill>
        <p:spPr>
          <a:xfrm>
            <a:off x="8450573" y="1575459"/>
            <a:ext cx="3741425" cy="520272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2861BC-9869-A7AA-1136-66E3C51CABF8}"/>
              </a:ext>
            </a:extLst>
          </p:cNvPr>
          <p:cNvSpPr txBox="1"/>
          <p:nvPr/>
        </p:nvSpPr>
        <p:spPr>
          <a:xfrm>
            <a:off x="133497" y="2597419"/>
            <a:ext cx="201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ar-EG" dirty="0"/>
              <a:t>022030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75140C-9D39-8DAA-DA8D-82CCF4C40961}"/>
              </a:ext>
            </a:extLst>
          </p:cNvPr>
          <p:cNvSpPr txBox="1"/>
          <p:nvPr/>
        </p:nvSpPr>
        <p:spPr>
          <a:xfrm>
            <a:off x="237689" y="4840918"/>
            <a:ext cx="201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ar-EG" dirty="0"/>
              <a:t>010030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35955A-17A3-EF0E-9500-A4D32B1E9690}"/>
              </a:ext>
            </a:extLst>
          </p:cNvPr>
          <p:cNvSpPr/>
          <p:nvPr/>
        </p:nvSpPr>
        <p:spPr>
          <a:xfrm>
            <a:off x="0" y="856552"/>
            <a:ext cx="12206285" cy="79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41" name="Table 7">
            <a:extLst>
              <a:ext uri="{FF2B5EF4-FFF2-40B4-BE49-F238E27FC236}">
                <a16:creationId xmlns:a16="http://schemas.microsoft.com/office/drawing/2014/main" id="{CBC75233-C7AD-DE31-FED8-015FEB9F4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71602"/>
              </p:ext>
            </p:extLst>
          </p:nvPr>
        </p:nvGraphicFramePr>
        <p:xfrm>
          <a:off x="1691033" y="1962652"/>
          <a:ext cx="66861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5251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3437695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graphicFrame>
        <p:nvGraphicFramePr>
          <p:cNvPr id="42" name="Table 7">
            <a:extLst>
              <a:ext uri="{FF2B5EF4-FFF2-40B4-BE49-F238E27FC236}">
                <a16:creationId xmlns:a16="http://schemas.microsoft.com/office/drawing/2014/main" id="{5865E2F8-79EA-DD93-5C81-62AB3FF90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266577"/>
              </p:ext>
            </p:extLst>
          </p:nvPr>
        </p:nvGraphicFramePr>
        <p:xfrm>
          <a:off x="1812953" y="1605544"/>
          <a:ext cx="72280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307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4068447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opcode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Disp.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AC9E189D-1159-002A-7A94-783D0A2D2E03}"/>
              </a:ext>
            </a:extLst>
          </p:cNvPr>
          <p:cNvSpPr txBox="1"/>
          <p:nvPr/>
        </p:nvSpPr>
        <p:spPr>
          <a:xfrm>
            <a:off x="1691031" y="2216646"/>
            <a:ext cx="21092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Get address: (</a:t>
            </a:r>
            <a:r>
              <a:rPr lang="en-US" sz="1600" dirty="0" err="1"/>
              <a:t>b,p,x</a:t>
            </a:r>
            <a:r>
              <a:rPr lang="en-US" sz="1600" dirty="0"/>
              <a:t>)</a:t>
            </a:r>
          </a:p>
          <a:p>
            <a:r>
              <a:rPr lang="en-US" sz="1600" dirty="0"/>
              <a:t>TA=</a:t>
            </a:r>
            <a:r>
              <a:rPr lang="en-US" sz="1600" dirty="0" err="1"/>
              <a:t>disp</a:t>
            </a:r>
            <a:r>
              <a:rPr lang="en-US" sz="1600" dirty="0"/>
              <a:t>+ (PC)</a:t>
            </a:r>
          </a:p>
          <a:p>
            <a:r>
              <a:rPr lang="en-US" sz="1600" dirty="0"/>
              <a:t>TA=030+3000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64584E-F4F7-F930-1074-A335A23F91B7}"/>
              </a:ext>
            </a:extLst>
          </p:cNvPr>
          <p:cNvSpPr txBox="1"/>
          <p:nvPr/>
        </p:nvSpPr>
        <p:spPr>
          <a:xfrm>
            <a:off x="4484525" y="2242681"/>
            <a:ext cx="40436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Use address: (</a:t>
            </a:r>
            <a:r>
              <a:rPr lang="en-US" sz="1600" dirty="0" err="1"/>
              <a:t>n,i</a:t>
            </a:r>
            <a:r>
              <a:rPr lang="en-US" sz="1600" dirty="0"/>
              <a:t>)</a:t>
            </a:r>
          </a:p>
          <a:p>
            <a:r>
              <a:rPr lang="en-US" sz="1600" dirty="0"/>
              <a:t>TA=3030</a:t>
            </a:r>
          </a:p>
          <a:p>
            <a:r>
              <a:rPr lang="en-US" sz="1600" dirty="0"/>
              <a:t>Value=((TA))= ((3030))</a:t>
            </a:r>
          </a:p>
          <a:p>
            <a:r>
              <a:rPr lang="en-US" sz="1600" dirty="0"/>
              <a:t>Value= (3600) = 103000 </a:t>
            </a:r>
          </a:p>
        </p:txBody>
      </p:sp>
      <p:graphicFrame>
        <p:nvGraphicFramePr>
          <p:cNvPr id="45" name="Table 7">
            <a:extLst>
              <a:ext uri="{FF2B5EF4-FFF2-40B4-BE49-F238E27FC236}">
                <a16:creationId xmlns:a16="http://schemas.microsoft.com/office/drawing/2014/main" id="{9A4901E0-C903-A383-3FF2-693CCFEE1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95187"/>
              </p:ext>
            </p:extLst>
          </p:nvPr>
        </p:nvGraphicFramePr>
        <p:xfrm>
          <a:off x="1766929" y="4285412"/>
          <a:ext cx="66861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5251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3437695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graphicFrame>
        <p:nvGraphicFramePr>
          <p:cNvPr id="46" name="Table 7">
            <a:extLst>
              <a:ext uri="{FF2B5EF4-FFF2-40B4-BE49-F238E27FC236}">
                <a16:creationId xmlns:a16="http://schemas.microsoft.com/office/drawing/2014/main" id="{3CFD9EAB-4FFF-098E-07A9-3CC23D6A6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975433"/>
              </p:ext>
            </p:extLst>
          </p:nvPr>
        </p:nvGraphicFramePr>
        <p:xfrm>
          <a:off x="1888849" y="3928304"/>
          <a:ext cx="72280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307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4068447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opcode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Disp.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339A6EE6-3783-5D4A-A9EB-7FBB70065736}"/>
              </a:ext>
            </a:extLst>
          </p:cNvPr>
          <p:cNvSpPr txBox="1"/>
          <p:nvPr/>
        </p:nvSpPr>
        <p:spPr>
          <a:xfrm>
            <a:off x="1766929" y="4638083"/>
            <a:ext cx="21092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Get address: (</a:t>
            </a:r>
            <a:r>
              <a:rPr lang="en-US" sz="1600" dirty="0" err="1"/>
              <a:t>b,p,x</a:t>
            </a:r>
            <a:r>
              <a:rPr lang="en-US" sz="1600" dirty="0"/>
              <a:t>)</a:t>
            </a:r>
          </a:p>
          <a:p>
            <a:r>
              <a:rPr lang="en-US" sz="1600" dirty="0"/>
              <a:t>TA=</a:t>
            </a:r>
            <a:r>
              <a:rPr lang="en-US" sz="1600" dirty="0" err="1"/>
              <a:t>disp</a:t>
            </a:r>
            <a:endParaRPr lang="en-US" sz="1600" dirty="0"/>
          </a:p>
          <a:p>
            <a:r>
              <a:rPr lang="en-US" sz="1600" dirty="0"/>
              <a:t>TA= 030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A1FEFA-0A8F-0EED-99C0-88EB89E236D2}"/>
              </a:ext>
            </a:extLst>
          </p:cNvPr>
          <p:cNvSpPr txBox="1"/>
          <p:nvPr/>
        </p:nvSpPr>
        <p:spPr>
          <a:xfrm>
            <a:off x="4560421" y="4638083"/>
            <a:ext cx="18699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Use address: (</a:t>
            </a:r>
            <a:r>
              <a:rPr lang="en-US" sz="1600" dirty="0" err="1"/>
              <a:t>n,i</a:t>
            </a:r>
            <a:r>
              <a:rPr lang="en-US" sz="1600" dirty="0"/>
              <a:t>)</a:t>
            </a:r>
          </a:p>
          <a:p>
            <a:r>
              <a:rPr lang="en-US" sz="1600" dirty="0"/>
              <a:t>TA=030</a:t>
            </a:r>
          </a:p>
          <a:p>
            <a:r>
              <a:rPr lang="en-US" sz="1600" dirty="0"/>
              <a:t>Value=TA= 030</a:t>
            </a:r>
          </a:p>
          <a:p>
            <a:r>
              <a:rPr lang="en-US" sz="1600" dirty="0"/>
              <a:t>Value=000030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FF34F4-AA87-17BC-BBD4-AAD349078F41}"/>
              </a:ext>
            </a:extLst>
          </p:cNvPr>
          <p:cNvSpPr txBox="1"/>
          <p:nvPr/>
        </p:nvSpPr>
        <p:spPr>
          <a:xfrm>
            <a:off x="1896041" y="1962648"/>
            <a:ext cx="17832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0000  00     1     0 </a:t>
            </a:r>
            <a:endParaRPr lang="ar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BCCA5-B12E-52A3-5D64-4F9EAB627945}"/>
              </a:ext>
            </a:extLst>
          </p:cNvPr>
          <p:cNvSpPr txBox="1"/>
          <p:nvPr/>
        </p:nvSpPr>
        <p:spPr>
          <a:xfrm>
            <a:off x="3629424" y="1962648"/>
            <a:ext cx="1393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0     0    1    0  </a:t>
            </a:r>
            <a:endParaRPr lang="ar-E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5AA30-1D11-C033-CF1B-336CC922F8DF}"/>
              </a:ext>
            </a:extLst>
          </p:cNvPr>
          <p:cNvSpPr txBox="1"/>
          <p:nvPr/>
        </p:nvSpPr>
        <p:spPr>
          <a:xfrm>
            <a:off x="4978185" y="1955121"/>
            <a:ext cx="331524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0000 0011 0000 </a:t>
            </a:r>
            <a:endParaRPr lang="ar-E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98116-2A06-6DA2-A989-A1488750F6DF}"/>
              </a:ext>
            </a:extLst>
          </p:cNvPr>
          <p:cNvSpPr txBox="1"/>
          <p:nvPr/>
        </p:nvSpPr>
        <p:spPr>
          <a:xfrm>
            <a:off x="1958253" y="4294617"/>
            <a:ext cx="17832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0000  00     0     1 </a:t>
            </a:r>
            <a:endParaRPr lang="ar-E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FC1BA-52A3-5FE2-5C54-C7BF679DC496}"/>
              </a:ext>
            </a:extLst>
          </p:cNvPr>
          <p:cNvSpPr txBox="1"/>
          <p:nvPr/>
        </p:nvSpPr>
        <p:spPr>
          <a:xfrm>
            <a:off x="3689205" y="4294617"/>
            <a:ext cx="1393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0     0    0    0  </a:t>
            </a:r>
            <a:endParaRPr lang="ar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41FFB-21D2-BBD8-CD9B-DEEA01973E55}"/>
              </a:ext>
            </a:extLst>
          </p:cNvPr>
          <p:cNvSpPr txBox="1"/>
          <p:nvPr/>
        </p:nvSpPr>
        <p:spPr>
          <a:xfrm>
            <a:off x="5034105" y="4286920"/>
            <a:ext cx="331524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0000 0011 0000 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50897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7" grpId="0"/>
      <p:bldP spid="48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02" y="1"/>
            <a:ext cx="9477377" cy="78577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Sheet3, Q1)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EE2922-FB49-8AA7-BFF7-073868A516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1" r="17347" b="2940"/>
          <a:stretch/>
        </p:blipFill>
        <p:spPr>
          <a:xfrm>
            <a:off x="8450573" y="1575459"/>
            <a:ext cx="3741425" cy="52027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E78A1B0-AC89-D991-8EC8-8C6A7601DC26}"/>
              </a:ext>
            </a:extLst>
          </p:cNvPr>
          <p:cNvSpPr txBox="1"/>
          <p:nvPr/>
        </p:nvSpPr>
        <p:spPr>
          <a:xfrm>
            <a:off x="220902" y="2044224"/>
            <a:ext cx="1854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ar-EG" dirty="0"/>
              <a:t>0310C303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35955A-17A3-EF0E-9500-A4D32B1E9690}"/>
              </a:ext>
            </a:extLst>
          </p:cNvPr>
          <p:cNvSpPr/>
          <p:nvPr/>
        </p:nvSpPr>
        <p:spPr>
          <a:xfrm>
            <a:off x="0" y="856552"/>
            <a:ext cx="12206285" cy="79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49" name="Table 7">
            <a:extLst>
              <a:ext uri="{FF2B5EF4-FFF2-40B4-BE49-F238E27FC236}">
                <a16:creationId xmlns:a16="http://schemas.microsoft.com/office/drawing/2014/main" id="{88F38DDD-BFE8-88C3-81F4-4E14638E9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75484"/>
              </p:ext>
            </p:extLst>
          </p:nvPr>
        </p:nvGraphicFramePr>
        <p:xfrm>
          <a:off x="1900358" y="1812712"/>
          <a:ext cx="66861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5251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3437695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graphicFrame>
        <p:nvGraphicFramePr>
          <p:cNvPr id="50" name="Table 7">
            <a:extLst>
              <a:ext uri="{FF2B5EF4-FFF2-40B4-BE49-F238E27FC236}">
                <a16:creationId xmlns:a16="http://schemas.microsoft.com/office/drawing/2014/main" id="{1FF360AF-ED93-8D74-85B6-84B0AFB22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518587"/>
              </p:ext>
            </p:extLst>
          </p:nvPr>
        </p:nvGraphicFramePr>
        <p:xfrm>
          <a:off x="2022278" y="1455604"/>
          <a:ext cx="72280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307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4068447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opcode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Add.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892D626D-237F-37B8-A802-9508E93ECEF3}"/>
              </a:ext>
            </a:extLst>
          </p:cNvPr>
          <p:cNvSpPr txBox="1"/>
          <p:nvPr/>
        </p:nvSpPr>
        <p:spPr>
          <a:xfrm>
            <a:off x="1900358" y="2165383"/>
            <a:ext cx="21092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Get address: (</a:t>
            </a:r>
            <a:r>
              <a:rPr lang="en-US" sz="1600" dirty="0" err="1"/>
              <a:t>b,p,x</a:t>
            </a:r>
            <a:r>
              <a:rPr lang="en-US" sz="1600" dirty="0"/>
              <a:t>)</a:t>
            </a:r>
          </a:p>
          <a:p>
            <a:r>
              <a:rPr lang="en-US" sz="1600" dirty="0"/>
              <a:t>TA=address</a:t>
            </a:r>
          </a:p>
          <a:p>
            <a:r>
              <a:rPr lang="en-US" sz="1600" dirty="0"/>
              <a:t>TA=0C303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CA3754-3BFB-E739-C4B8-276AD16CE329}"/>
              </a:ext>
            </a:extLst>
          </p:cNvPr>
          <p:cNvSpPr txBox="1"/>
          <p:nvPr/>
        </p:nvSpPr>
        <p:spPr>
          <a:xfrm>
            <a:off x="4693850" y="2165383"/>
            <a:ext cx="19228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Use address: (</a:t>
            </a:r>
            <a:r>
              <a:rPr lang="en-US" sz="1600" dirty="0" err="1"/>
              <a:t>n,i</a:t>
            </a:r>
            <a:r>
              <a:rPr lang="en-US" sz="1600" dirty="0"/>
              <a:t>)</a:t>
            </a:r>
          </a:p>
          <a:p>
            <a:r>
              <a:rPr lang="en-US" sz="1600" dirty="0"/>
              <a:t>TA= 0C303</a:t>
            </a:r>
          </a:p>
          <a:p>
            <a:r>
              <a:rPr lang="en-US" sz="1600" dirty="0"/>
              <a:t>Value=(TA)= (0C303)</a:t>
            </a:r>
          </a:p>
          <a:p>
            <a:r>
              <a:rPr lang="en-US" sz="1600" dirty="0"/>
              <a:t>Value=003030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9392A-05C9-DB92-FEC6-62AEF0EE760A}"/>
              </a:ext>
            </a:extLst>
          </p:cNvPr>
          <p:cNvSpPr txBox="1"/>
          <p:nvPr/>
        </p:nvSpPr>
        <p:spPr>
          <a:xfrm>
            <a:off x="2094702" y="1820617"/>
            <a:ext cx="17832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0000  00     1    1 </a:t>
            </a:r>
            <a:endParaRPr lang="ar-E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0AB91-A608-6E93-104A-725B57F0A289}"/>
              </a:ext>
            </a:extLst>
          </p:cNvPr>
          <p:cNvSpPr txBox="1"/>
          <p:nvPr/>
        </p:nvSpPr>
        <p:spPr>
          <a:xfrm>
            <a:off x="3822370" y="1820902"/>
            <a:ext cx="1393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0     0    0    1  </a:t>
            </a:r>
            <a:endParaRPr lang="ar-E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AE4FBC-5134-2735-8B13-5CCC18DF184B}"/>
              </a:ext>
            </a:extLst>
          </p:cNvPr>
          <p:cNvSpPr txBox="1"/>
          <p:nvPr/>
        </p:nvSpPr>
        <p:spPr>
          <a:xfrm>
            <a:off x="5149335" y="1802163"/>
            <a:ext cx="331524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0000 1100 0011 0000 0011 </a:t>
            </a:r>
            <a:endParaRPr lang="ar-E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68D025-7A15-EA69-8AED-1D1108610D44}"/>
              </a:ext>
            </a:extLst>
          </p:cNvPr>
          <p:cNvSpPr txBox="1"/>
          <p:nvPr/>
        </p:nvSpPr>
        <p:spPr>
          <a:xfrm>
            <a:off x="240416" y="4336110"/>
            <a:ext cx="1854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ar-EG" dirty="0">
                <a:highlight>
                  <a:srgbClr val="FFFF00"/>
                </a:highlight>
              </a:rPr>
              <a:t>003600</a:t>
            </a:r>
          </a:p>
        </p:txBody>
      </p:sp>
      <p:graphicFrame>
        <p:nvGraphicFramePr>
          <p:cNvPr id="38" name="Table 7">
            <a:extLst>
              <a:ext uri="{FF2B5EF4-FFF2-40B4-BE49-F238E27FC236}">
                <a16:creationId xmlns:a16="http://schemas.microsoft.com/office/drawing/2014/main" id="{4147C7A4-1FE9-CA4F-D5F5-5F1E740FF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390488"/>
              </p:ext>
            </p:extLst>
          </p:nvPr>
        </p:nvGraphicFramePr>
        <p:xfrm>
          <a:off x="1819296" y="3974208"/>
          <a:ext cx="66861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5251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3437695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graphicFrame>
        <p:nvGraphicFramePr>
          <p:cNvPr id="39" name="Table 7">
            <a:extLst>
              <a:ext uri="{FF2B5EF4-FFF2-40B4-BE49-F238E27FC236}">
                <a16:creationId xmlns:a16="http://schemas.microsoft.com/office/drawing/2014/main" id="{3A88E461-C3B0-FF79-E121-9D529A466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417259"/>
              </p:ext>
            </p:extLst>
          </p:nvPr>
        </p:nvGraphicFramePr>
        <p:xfrm>
          <a:off x="1941216" y="3617100"/>
          <a:ext cx="722809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307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611355257"/>
                    </a:ext>
                  </a:extLst>
                </a:gridCol>
                <a:gridCol w="343224">
                  <a:extLst>
                    <a:ext uri="{9D8B030D-6E8A-4147-A177-3AD203B41FA5}">
                      <a16:colId xmlns:a16="http://schemas.microsoft.com/office/drawing/2014/main" val="4232725849"/>
                    </a:ext>
                  </a:extLst>
                </a:gridCol>
                <a:gridCol w="4068447">
                  <a:extLst>
                    <a:ext uri="{9D8B030D-6E8A-4147-A177-3AD203B41FA5}">
                      <a16:colId xmlns:a16="http://schemas.microsoft.com/office/drawing/2014/main" val="1458482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opcode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Add.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9B7A03E-0D81-26A3-65C1-343D4F51465A}"/>
              </a:ext>
            </a:extLst>
          </p:cNvPr>
          <p:cNvSpPr txBox="1"/>
          <p:nvPr/>
        </p:nvSpPr>
        <p:spPr>
          <a:xfrm>
            <a:off x="1819296" y="5159060"/>
            <a:ext cx="21092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Get address: (</a:t>
            </a:r>
            <a:r>
              <a:rPr lang="en-US" sz="1600" dirty="0" err="1"/>
              <a:t>b,p,x</a:t>
            </a:r>
            <a:r>
              <a:rPr lang="en-US" sz="1600" dirty="0"/>
              <a:t>)</a:t>
            </a:r>
          </a:p>
          <a:p>
            <a:r>
              <a:rPr lang="en-US" sz="1600" dirty="0"/>
              <a:t>TA=address</a:t>
            </a:r>
          </a:p>
          <a:p>
            <a:r>
              <a:rPr lang="en-US" sz="1600" dirty="0"/>
              <a:t>TA=3600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F07FA0-C29C-F2D8-B27C-65D3050A9139}"/>
              </a:ext>
            </a:extLst>
          </p:cNvPr>
          <p:cNvSpPr txBox="1"/>
          <p:nvPr/>
        </p:nvSpPr>
        <p:spPr>
          <a:xfrm>
            <a:off x="4593848" y="5159060"/>
            <a:ext cx="19228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Use address: (</a:t>
            </a:r>
            <a:r>
              <a:rPr lang="en-US" sz="1600" dirty="0" err="1"/>
              <a:t>n,i</a:t>
            </a:r>
            <a:r>
              <a:rPr lang="en-US" sz="1600" dirty="0"/>
              <a:t>)</a:t>
            </a:r>
          </a:p>
          <a:p>
            <a:r>
              <a:rPr lang="en-US" sz="1600" dirty="0"/>
              <a:t>TA= 3600</a:t>
            </a:r>
          </a:p>
          <a:p>
            <a:r>
              <a:rPr lang="en-US" sz="1600" dirty="0"/>
              <a:t>Value=(TA)= (3600)</a:t>
            </a:r>
          </a:p>
          <a:p>
            <a:r>
              <a:rPr lang="en-US" sz="1600" dirty="0"/>
              <a:t>Value=103000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864010-57C0-3F72-9504-6FAA3B2FE5C9}"/>
              </a:ext>
            </a:extLst>
          </p:cNvPr>
          <p:cNvSpPr txBox="1"/>
          <p:nvPr/>
        </p:nvSpPr>
        <p:spPr>
          <a:xfrm>
            <a:off x="2013640" y="3982113"/>
            <a:ext cx="17832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0000  00     0    0 </a:t>
            </a:r>
            <a:endParaRPr lang="ar-EG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EF6419-CB08-1145-94B4-E9896D41F417}"/>
              </a:ext>
            </a:extLst>
          </p:cNvPr>
          <p:cNvSpPr txBox="1"/>
          <p:nvPr/>
        </p:nvSpPr>
        <p:spPr>
          <a:xfrm>
            <a:off x="3741308" y="3982398"/>
            <a:ext cx="1393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0     0    1    1  </a:t>
            </a:r>
            <a:endParaRPr lang="ar-EG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FF7538-2B49-0C44-ED90-965CA13EAD9F}"/>
              </a:ext>
            </a:extLst>
          </p:cNvPr>
          <p:cNvSpPr txBox="1"/>
          <p:nvPr/>
        </p:nvSpPr>
        <p:spPr>
          <a:xfrm>
            <a:off x="5068273" y="3963659"/>
            <a:ext cx="331524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0110 0000 0000</a:t>
            </a:r>
            <a:endParaRPr lang="ar-EG" dirty="0"/>
          </a:p>
        </p:txBody>
      </p:sp>
      <p:graphicFrame>
        <p:nvGraphicFramePr>
          <p:cNvPr id="57" name="Table 7">
            <a:extLst>
              <a:ext uri="{FF2B5EF4-FFF2-40B4-BE49-F238E27FC236}">
                <a16:creationId xmlns:a16="http://schemas.microsoft.com/office/drawing/2014/main" id="{722CD0B8-F937-BF70-CEFC-5C220503C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089504"/>
              </p:ext>
            </p:extLst>
          </p:nvPr>
        </p:nvGraphicFramePr>
        <p:xfrm>
          <a:off x="1806263" y="4715538"/>
          <a:ext cx="66861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6317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30533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4429294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graphicFrame>
        <p:nvGraphicFramePr>
          <p:cNvPr id="58" name="Table 7">
            <a:extLst>
              <a:ext uri="{FF2B5EF4-FFF2-40B4-BE49-F238E27FC236}">
                <a16:creationId xmlns:a16="http://schemas.microsoft.com/office/drawing/2014/main" id="{CD3AE3E5-4CEB-DFD2-8060-87B29ADAD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514018"/>
              </p:ext>
            </p:extLst>
          </p:nvPr>
        </p:nvGraphicFramePr>
        <p:xfrm>
          <a:off x="1819297" y="4358430"/>
          <a:ext cx="728541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7728">
                  <a:extLst>
                    <a:ext uri="{9D8B030D-6E8A-4147-A177-3AD203B41FA5}">
                      <a16:colId xmlns:a16="http://schemas.microsoft.com/office/drawing/2014/main" val="1118158315"/>
                    </a:ext>
                  </a:extLst>
                </a:gridCol>
                <a:gridCol w="355918">
                  <a:extLst>
                    <a:ext uri="{9D8B030D-6E8A-4147-A177-3AD203B41FA5}">
                      <a16:colId xmlns:a16="http://schemas.microsoft.com/office/drawing/2014/main" val="1805746707"/>
                    </a:ext>
                  </a:extLst>
                </a:gridCol>
                <a:gridCol w="331924">
                  <a:extLst>
                    <a:ext uri="{9D8B030D-6E8A-4147-A177-3AD203B41FA5}">
                      <a16:colId xmlns:a16="http://schemas.microsoft.com/office/drawing/2014/main" val="2140620502"/>
                    </a:ext>
                  </a:extLst>
                </a:gridCol>
                <a:gridCol w="455568">
                  <a:extLst>
                    <a:ext uri="{9D8B030D-6E8A-4147-A177-3AD203B41FA5}">
                      <a16:colId xmlns:a16="http://schemas.microsoft.com/office/drawing/2014/main" val="3043908212"/>
                    </a:ext>
                  </a:extLst>
                </a:gridCol>
                <a:gridCol w="4954275">
                  <a:extLst>
                    <a:ext uri="{9D8B030D-6E8A-4147-A177-3AD203B41FA5}">
                      <a16:colId xmlns:a16="http://schemas.microsoft.com/office/drawing/2014/main" val="1040341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Opcode(8)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cap="none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 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cap="none" baseline="0" dirty="0">
                          <a:solidFill>
                            <a:srgbClr val="FF0000"/>
                          </a:solidFill>
                        </a:rPr>
                        <a:t>Address(15)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45750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3C4848E1-C673-AFC7-04D8-D4454D162B81}"/>
              </a:ext>
            </a:extLst>
          </p:cNvPr>
          <p:cNvSpPr txBox="1"/>
          <p:nvPr/>
        </p:nvSpPr>
        <p:spPr>
          <a:xfrm>
            <a:off x="1900358" y="4712142"/>
            <a:ext cx="17832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0000 0000 </a:t>
            </a:r>
            <a:endParaRPr lang="ar-EG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06FB6A-5B4E-954C-DBB3-B88E27870A0B}"/>
              </a:ext>
            </a:extLst>
          </p:cNvPr>
          <p:cNvSpPr txBox="1"/>
          <p:nvPr/>
        </p:nvSpPr>
        <p:spPr>
          <a:xfrm>
            <a:off x="3748283" y="4701715"/>
            <a:ext cx="33196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</a:t>
            </a:r>
            <a:endParaRPr lang="ar-EG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892569-62A3-7F49-0D94-1F831306B73A}"/>
              </a:ext>
            </a:extLst>
          </p:cNvPr>
          <p:cNvSpPr txBox="1"/>
          <p:nvPr/>
        </p:nvSpPr>
        <p:spPr>
          <a:xfrm>
            <a:off x="4067973" y="4722220"/>
            <a:ext cx="25487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011011000000000 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17910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9" grpId="0"/>
      <p:bldP spid="11" grpId="0"/>
      <p:bldP spid="17" grpId="0"/>
      <p:bldP spid="40" grpId="0"/>
      <p:bldP spid="53" grpId="0"/>
      <p:bldP spid="54" grpId="0"/>
      <p:bldP spid="55" grpId="0"/>
      <p:bldP spid="56" grpId="0"/>
      <p:bldP spid="59" grpId="0"/>
      <p:bldP spid="60" grpId="0"/>
      <p:bldP spid="6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559</Words>
  <Application>Microsoft Office PowerPoint</Application>
  <PresentationFormat>Widescreen</PresentationFormat>
  <Paragraphs>161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Section 4</vt:lpstr>
      <vt:lpstr>PowerPoint Presentation</vt:lpstr>
      <vt:lpstr>Instruction formats</vt:lpstr>
      <vt:lpstr>PowerPoint Presentation</vt:lpstr>
      <vt:lpstr>Sheet3, Q1)</vt:lpstr>
      <vt:lpstr>Sheet3, Q1)</vt:lpstr>
      <vt:lpstr>Sheet3, Q1)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NADEEN EMAD EL DIN HAMDY ABDELFATAH</dc:creator>
  <cp:lastModifiedBy>yara elmekky</cp:lastModifiedBy>
  <cp:revision>22</cp:revision>
  <dcterms:created xsi:type="dcterms:W3CDTF">2021-11-26T20:08:50Z</dcterms:created>
  <dcterms:modified xsi:type="dcterms:W3CDTF">2026-03-14T22:18:37Z</dcterms:modified>
</cp:coreProperties>
</file>